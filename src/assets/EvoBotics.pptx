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3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12192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rXIsqH5M8oVpe3FZlPfDkZ3Uf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Anatole</a:t>
            </a:r>
            <a:endParaRPr/>
          </a:p>
        </p:txBody>
      </p:sp>
      <p:sp>
        <p:nvSpPr>
          <p:cNvPr id="281" name="Google Shape;2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360492bd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360492bd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Anatole</a:t>
            </a:r>
            <a:endParaRPr/>
          </a:p>
        </p:txBody>
      </p:sp>
      <p:sp>
        <p:nvSpPr>
          <p:cNvPr id="294" name="Google Shape;294;g3f360492bd5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360492bd5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360492bd5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Jules</a:t>
            </a:r>
            <a:endParaRPr/>
          </a:p>
        </p:txBody>
      </p:sp>
      <p:sp>
        <p:nvSpPr>
          <p:cNvPr id="329" name="Google Shape;329;g3f360492bd5_1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Antoine</a:t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Tout le monde </a:t>
            </a:r>
            <a:endParaRPr/>
          </a:p>
        </p:txBody>
      </p:sp>
      <p:sp>
        <p:nvSpPr>
          <p:cNvPr id="383" name="Google Shape;3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360492bd5_3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360492bd5_3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360492bd5_3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3597195f9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3597195f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Anatole</a:t>
            </a:r>
            <a:endParaRPr/>
          </a:p>
        </p:txBody>
      </p:sp>
      <p:sp>
        <p:nvSpPr>
          <p:cNvPr id="428" name="Google Shape;428;g3f3597195f9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Test integration , test unitaires, test end to end  - Galystan</a:t>
            </a:r>
            <a:endParaRPr/>
          </a:p>
        </p:txBody>
      </p:sp>
      <p:sp>
        <p:nvSpPr>
          <p:cNvPr id="436" name="Google Shape;4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3597195f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f3597195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Anatole</a:t>
            </a: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463" name="Google Shape;463;g3f3597195f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0c118c5d3_1_14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f0c118c5d3_1_1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Antoine</a:t>
            </a: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480" name="Google Shape;480;g3f0c118c5d3_1_14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0c118c5d3_1_15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f0c118c5d3_1_15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Antoine</a:t>
            </a:r>
            <a:br>
              <a:rPr lang="en-US"/>
            </a:b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496" name="Google Shape;496;g3f0c118c5d3_1_15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Galystan</a:t>
            </a:r>
            <a:endParaRPr/>
          </a:p>
        </p:txBody>
      </p:sp>
      <p:sp>
        <p:nvSpPr>
          <p:cNvPr id="529" name="Google Shape;5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Tout le monde - sauf antoine</a:t>
            </a:r>
            <a:endParaRPr/>
          </a:p>
        </p:txBody>
      </p:sp>
      <p:sp>
        <p:nvSpPr>
          <p:cNvPr id="550" name="Google Shape;5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0c118c5d3_1_1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f0c118c5d3_1_1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Antoine</a:t>
            </a: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585" name="Google Shape;585;g3f0c118c5d3_1_1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0c118c5d3_1_19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f0c118c5d3_1_19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Tout le monde</a:t>
            </a:r>
            <a:br>
              <a:rPr lang="en-US"/>
            </a:b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604" name="Google Shape;604;g3f0c118c5d3_1_19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360492bd5_33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360492bd5_33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Tout le monde</a:t>
            </a:r>
            <a:br>
              <a:rPr lang="en-US"/>
            </a:br>
            <a:br>
              <a:rPr lang="en-US"/>
            </a:br>
            <a:r>
              <a:rPr lang="en-US"/>
              <a:t>Message principal</a:t>
            </a:r>
            <a:br>
              <a:rPr lang="en-US"/>
            </a:br>
            <a:r>
              <a:rPr lang="en-US"/>
              <a:t>Ne pas fabriquer des conclusions ; compléter les artefacts.</a:t>
            </a:r>
            <a:br>
              <a:rPr lang="en-US"/>
            </a:br>
            <a:br>
              <a:rPr lang="en-US"/>
            </a:br>
            <a:r>
              <a:rPr lang="en-US"/>
              <a:t>Preuves dépôt</a:t>
            </a:r>
            <a:br>
              <a:rPr lang="en-US"/>
            </a:br>
            <a:r>
              <a:rPr lang="en-US"/>
              <a:t>home_controlled_site_acceptance_2026-07-04.md ; evidence template.</a:t>
            </a:r>
            <a:br>
              <a:rPr lang="en-US"/>
            </a:br>
            <a:br>
              <a:rPr lang="en-US"/>
            </a:br>
            <a:r>
              <a:rPr lang="en-US"/>
              <a:t>Visuel suggéré</a:t>
            </a:r>
            <a:br>
              <a:rPr lang="en-US"/>
            </a:br>
            <a:r>
              <a:rPr lang="en-US"/>
              <a:t>Checklist avec propriétaires.</a:t>
            </a:r>
            <a:endParaRPr/>
          </a:p>
        </p:txBody>
      </p:sp>
      <p:sp>
        <p:nvSpPr>
          <p:cNvPr id="630" name="Google Shape;630;g3f360492bd5_33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5cf819547b99ba4_245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25cf819547b99ba4_245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25cf819547b99ba4_245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25cf819547b99ba4_24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25cf819547b99ba4_245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25cf819547b99ba4_24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3597195f9_0_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f3597195f9_0_3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g3f3597195f9_0_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f3597195f9_0_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f3597195f9_0_31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g3f3597195f9_0_31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g3f3597195f9_0_3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f3597195f9_0_3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g3f3597195f9_0_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3597195f9_0_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f3597195f9_0_39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f3597195f9_0_3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3597195f9_0_4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f3597195f9_0_4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g3f3597195f9_0_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3597195f9_0_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f3597195f9_0_45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3" name="Google Shape;33;g3f3597195f9_0_45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" name="Google Shape;34;g3f3597195f9_0_4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3597195f9_0_5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f3597195f9_0_5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g3f3597195f9_0_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f3597195f9_0_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f3597195f9_0_53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1" name="Google Shape;41;g3f3597195f9_0_53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2" name="Google Shape;42;g3f3597195f9_0_53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g3f3597195f9_0_5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3597195f9_0_6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f3597195f9_0_6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g3f3597195f9_0_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f3597195f9_0_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f3597195f9_0_62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g3f3597195f9_0_6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3597195f9_0_6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f3597195f9_0_6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g3f3597195f9_0_6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f3597195f9_0_6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f3597195f9_0_69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7" name="Google Shape;57;g3f3597195f9_0_69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f3597195f9_0_6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f3597195f9_0_77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g3f3597195f9_0_7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f3597195f9_0_7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f3597195f9_0_77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f3597195f9_0_7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597195f9_0_8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f3597195f9_0_8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g3f3597195f9_0_8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f3597195f9_0_8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f3597195f9_0_83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g3f3597195f9_0_83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g3f3597195f9_0_83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3" name="Google Shape;73;g3f3597195f9_0_8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3597195f9_0_92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6" name="Google Shape;76;g3f3597195f9_0_9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f3597195f9_0_9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g3f3597195f9_0_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f3597195f9_0_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f3597195f9_0_95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f3597195f9_0_95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f3597195f9_0_9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597195f9_0_10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g3f3597195f9_0_104"/>
          <p:cNvCxnSpPr/>
          <p:nvPr/>
        </p:nvCxnSpPr>
        <p:spPr>
          <a:xfrm>
            <a:off x="411480" y="6565392"/>
            <a:ext cx="11338500" cy="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g3f3597195f9_0_104"/>
          <p:cNvSpPr/>
          <p:nvPr/>
        </p:nvSpPr>
        <p:spPr>
          <a:xfrm>
            <a:off x="411480" y="6601968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3597195f9_0_104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 1">
  <p:cSld name="MASTER (g3f360492bd5_41_0)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597195f9_0_108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 (g3f360492bd5_18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3597195f9_0_110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94" name="Google Shape;94;g3f3597195f9_0_110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5" name="Google Shape;95;g3f3597195f9_0_110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6" name="Google Shape;96;g3f3597195f9_0_1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60492bd5_63_27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g3f360492bd5_63_27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04" name="Google Shape;104;g3f360492bd5_63_27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g3f360492bd5_63_2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g3f360492bd5_63_276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7" name="Google Shape;107;g3f360492bd5_63_276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g3f360492bd5_63_27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f360492bd5_63_28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11" name="Google Shape;111;g3f360492bd5_63_28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360492bd5_63_28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f360492bd5_63_284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f360492bd5_63_28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60492bd5_63_29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g3f360492bd5_63_29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18" name="Google Shape;118;g3f360492bd5_63_29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360492bd5_63_29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g3f360492bd5_63_290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1" name="Google Shape;121;g3f360492bd5_63_290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2" name="Google Shape;122;g3f360492bd5_63_29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360492bd5_63_29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g3f360492bd5_63_298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6" name="Google Shape;126;g3f360492bd5_63_29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g3f360492bd5_63_29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g3f360492bd5_63_298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9" name="Google Shape;129;g3f360492bd5_63_298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0" name="Google Shape;130;g3f360492bd5_63_298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1" name="Google Shape;131;g3f360492bd5_63_29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60492bd5_63_30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g3f360492bd5_63_30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35" name="Google Shape;135;g3f360492bd5_63_30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3f360492bd5_63_30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g3f360492bd5_63_307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38" name="Google Shape;138;g3f360492bd5_63_30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360492bd5_63_31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g3f360492bd5_63_31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42" name="Google Shape;142;g3f360492bd5_63_3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g3f360492bd5_63_3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g3f360492bd5_63_314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45" name="Google Shape;145;g3f360492bd5_63_314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46" name="Google Shape;146;g3f360492bd5_63_31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g3f360492bd5_63_322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149" name="Google Shape;149;g3f360492bd5_63_3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f360492bd5_63_3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g3f360492bd5_63_322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g3f360492bd5_63_32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60492bd5_63_32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g3f360492bd5_63_328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56" name="Google Shape;156;g3f360492bd5_63_3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g3f360492bd5_63_3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g3f360492bd5_63_328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59" name="Google Shape;159;g3f360492bd5_63_328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0" name="Google Shape;160;g3f360492bd5_63_328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1" name="Google Shape;161;g3f360492bd5_63_32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60492bd5_63_337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64" name="Google Shape;164;g3f360492bd5_63_33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g3f360492bd5_63_340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167" name="Google Shape;167;g3f360492bd5_63_3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g3f360492bd5_63_3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g3f360492bd5_63_340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g3f360492bd5_63_340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g3f360492bd5_63_34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60492bd5_63_34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g3f360492bd5_63_349"/>
          <p:cNvCxnSpPr/>
          <p:nvPr/>
        </p:nvCxnSpPr>
        <p:spPr>
          <a:xfrm>
            <a:off x="411480" y="6565392"/>
            <a:ext cx="11338500" cy="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g3f360492bd5_63_349"/>
          <p:cNvSpPr/>
          <p:nvPr/>
        </p:nvSpPr>
        <p:spPr>
          <a:xfrm>
            <a:off x="411480" y="6601968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360492bd5_63_349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 1">
  <p:cSld name="MASTER (g3f360492bd5_41_0)"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360492bd5_63_353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 (g3f360492bd5_18_0)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60492bd5_63_35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82" name="Google Shape;182;g3f360492bd5_63_35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83" name="Google Shape;183;g3f360492bd5_63_35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84" name="Google Shape;184;g3f360492bd5_63_35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60492bd5_62_0)">
  <p:cSld name="Generated (g3f360492bd5_62_0)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g3f360492bd5_55_0)">
  <p:cSld name="Title and two columns (g3f360492bd5_55_0)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60492bd5_33_121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88" name="Google Shape;188;g3f360492bd5_33_121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89" name="Google Shape;189;g3f360492bd5_33_121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0" name="Google Shape;190;g3f360492bd5_33_12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3709aa3d0_0_11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g3f3709aa3d0_0_11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8" name="Google Shape;198;g3f3709aa3d0_0_1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f3709aa3d0_0_1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g3f3709aa3d0_0_11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01" name="Google Shape;201;g3f3709aa3d0_0_11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2" name="Google Shape;202;g3f3709aa3d0_0_11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g3f3709aa3d0_0_12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05" name="Google Shape;205;g3f3709aa3d0_0_1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3f3709aa3d0_0_1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g3f3709aa3d0_0_127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g3f3709aa3d0_0_1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3709aa3d0_0_1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g3f3709aa3d0_0_13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12" name="Google Shape;212;g3f3709aa3d0_0_1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g3f3709aa3d0_0_1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g3f3709aa3d0_0_133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15" name="Google Shape;215;g3f3709aa3d0_0_133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6" name="Google Shape;216;g3f3709aa3d0_0_13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3709aa3d0_0_14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g3f3709aa3d0_0_14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20" name="Google Shape;220;g3f3709aa3d0_0_1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f3709aa3d0_0_1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g3f3709aa3d0_0_141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23" name="Google Shape;223;g3f3709aa3d0_0_141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24" name="Google Shape;224;g3f3709aa3d0_0_141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25" name="Google Shape;225;g3f3709aa3d0_0_14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3709aa3d0_0_15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g3f3709aa3d0_0_15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29" name="Google Shape;229;g3f3709aa3d0_0_1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g3f3709aa3d0_0_1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g3f3709aa3d0_0_150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32" name="Google Shape;232;g3f3709aa3d0_0_15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3709aa3d0_0_15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g3f3709aa3d0_0_15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6" name="Google Shape;236;g3f3709aa3d0_0_1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g3f3709aa3d0_0_1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g3f3709aa3d0_0_15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39" name="Google Shape;239;g3f3709aa3d0_0_15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0" name="Google Shape;240;g3f3709aa3d0_0_15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g3f3709aa3d0_0_16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243" name="Google Shape;243;g3f3709aa3d0_0_1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g3f3709aa3d0_0_1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g3f3709aa3d0_0_165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g3f3709aa3d0_0_16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3709aa3d0_0_17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g3f3709aa3d0_0_17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50" name="Google Shape;250;g3f3709aa3d0_0_17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f3709aa3d0_0_17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g3f3709aa3d0_0_171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53" name="Google Shape;253;g3f3709aa3d0_0_171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g3f3709aa3d0_0_171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55" name="Google Shape;255;g3f3709aa3d0_0_17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3709aa3d0_0_18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258" name="Google Shape;258;g3f3709aa3d0_0_18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g3f3709aa3d0_0_183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261" name="Google Shape;261;g3f3709aa3d0_0_18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f3709aa3d0_0_18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g3f3709aa3d0_0_183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g3f3709aa3d0_0_183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g3f3709aa3d0_0_18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709aa3d0_0_19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g3f3709aa3d0_0_192"/>
          <p:cNvCxnSpPr/>
          <p:nvPr/>
        </p:nvCxnSpPr>
        <p:spPr>
          <a:xfrm>
            <a:off x="411480" y="6565392"/>
            <a:ext cx="11338500" cy="0"/>
          </a:xfrm>
          <a:prstGeom prst="straightConnector1">
            <a:avLst/>
          </a:prstGeom>
          <a:noFill/>
          <a:ln cap="flat" cmpd="sng" w="9525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g3f3709aa3d0_0_192"/>
          <p:cNvSpPr/>
          <p:nvPr/>
        </p:nvSpPr>
        <p:spPr>
          <a:xfrm>
            <a:off x="411480" y="6601968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3709aa3d0_0_192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 1">
  <p:cSld name="MASTER (g3f360492bd5_41_0)"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3709aa3d0_0_196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 (g3f360492bd5_18_0)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3709aa3d0_0_198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76" name="Google Shape;276;g3f3709aa3d0_0_198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77" name="Google Shape;277;g3f3709aa3d0_0_198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78" name="Google Shape;278;g3f3709aa3d0_0_19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28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3597195f9_0_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f3597195f9_0_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f3597195f9_0_2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360492bd5_63_27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g3f360492bd5_63_27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0" name="Google Shape;100;g3f360492bd5_63_27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3709aa3d0_0_1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3" name="Google Shape;193;g3f3709aa3d0_0_1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4" name="Google Shape;194;g3f3709aa3d0_0_1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9li8N1JaVC4FBZ3pPdrE2rfbtwksEuxK/view" TargetMode="External"/><Relationship Id="rId4" Type="http://schemas.openxmlformats.org/officeDocument/2006/relationships/image" Target="../media/image13.jp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 txBox="1"/>
          <p:nvPr/>
        </p:nvSpPr>
        <p:spPr>
          <a:xfrm>
            <a:off x="502920" y="290609"/>
            <a:ext cx="539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45200"/>
                </a:solidFill>
                <a:latin typeface="Arial"/>
                <a:ea typeface="Arial"/>
                <a:cs typeface="Arial"/>
                <a:sym typeface="Arial"/>
              </a:rPr>
              <a:t>ÉPREUVE — 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502920" y="1095614"/>
            <a:ext cx="521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Evo-Botics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502920" y="2011680"/>
            <a:ext cx="5212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Du prototype aux tests sur le vrai 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502920" y="40965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HETIC WEB3 · Promotion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502920" y="4956048"/>
            <a:ext cx="4983480" cy="12801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502920" y="5102352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Ambiya Dimas Galystan · Anatole Dupuis</a:t>
            </a:r>
            <a:br>
              <a:rPr b="1" i="0" lang="en-US" sz="10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Antoine TU · Jules Bourrin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289" name="Google Shape;2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0"/>
            <a:ext cx="5650992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360492bd5_0_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360492bd5_0_8"/>
          <p:cNvSpPr txBox="1"/>
          <p:nvPr/>
        </p:nvSpPr>
        <p:spPr>
          <a:xfrm>
            <a:off x="438912" y="256032"/>
            <a:ext cx="4023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1" i="0" sz="900" u="none" cap="none" strike="noStrike">
              <a:solidFill>
                <a:srgbClr val="5C5C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360492bd5_0_8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g3f360492bd5_0_8"/>
          <p:cNvSpPr txBox="1"/>
          <p:nvPr/>
        </p:nvSpPr>
        <p:spPr>
          <a:xfrm>
            <a:off x="438912" y="585216"/>
            <a:ext cx="11201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Sommaire</a:t>
            </a:r>
            <a:endParaRPr b="1" i="0" sz="2600" u="none" cap="none" strike="noStrike">
              <a:solidFill>
                <a:srgbClr val="1414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360492bd5_0_8"/>
          <p:cNvSpPr/>
          <p:nvPr/>
        </p:nvSpPr>
        <p:spPr>
          <a:xfrm>
            <a:off x="438912" y="1399032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g3f360492bd5_0_8"/>
          <p:cNvGrpSpPr/>
          <p:nvPr/>
        </p:nvGrpSpPr>
        <p:grpSpPr>
          <a:xfrm>
            <a:off x="438912" y="1714500"/>
            <a:ext cx="11311128" cy="4000650"/>
            <a:chOff x="438912" y="1714500"/>
            <a:chExt cx="11311128" cy="4000650"/>
          </a:xfrm>
        </p:grpSpPr>
        <p:sp>
          <p:nvSpPr>
            <p:cNvPr id="302" name="Google Shape;302;g3f360492bd5_0_8"/>
            <p:cNvSpPr/>
            <p:nvPr/>
          </p:nvSpPr>
          <p:spPr>
            <a:xfrm>
              <a:off x="438912" y="171450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3f360492bd5_0_8"/>
            <p:cNvSpPr/>
            <p:nvPr/>
          </p:nvSpPr>
          <p:spPr>
            <a:xfrm>
              <a:off x="438912" y="1714500"/>
              <a:ext cx="57300" cy="8574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f360492bd5_0_8"/>
            <p:cNvSpPr txBox="1"/>
            <p:nvPr/>
          </p:nvSpPr>
          <p:spPr>
            <a:xfrm>
              <a:off x="685800" y="171450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45200"/>
                  </a:solidFill>
                  <a:latin typeface="Arial"/>
                  <a:ea typeface="Arial"/>
                  <a:cs typeface="Arial"/>
                  <a:sym typeface="Arial"/>
                </a:rPr>
                <a:t>01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Organisation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f360492bd5_0_8"/>
            <p:cNvSpPr/>
            <p:nvPr/>
          </p:nvSpPr>
          <p:spPr>
            <a:xfrm>
              <a:off x="6416040" y="171450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f360492bd5_0_8"/>
            <p:cNvSpPr/>
            <p:nvPr/>
          </p:nvSpPr>
          <p:spPr>
            <a:xfrm>
              <a:off x="6416040" y="1714500"/>
              <a:ext cx="57300" cy="857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f360492bd5_0_8"/>
            <p:cNvSpPr txBox="1"/>
            <p:nvPr/>
          </p:nvSpPr>
          <p:spPr>
            <a:xfrm>
              <a:off x="6662738" y="171450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02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Présentation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f360492bd5_0_8"/>
            <p:cNvSpPr/>
            <p:nvPr/>
          </p:nvSpPr>
          <p:spPr>
            <a:xfrm>
              <a:off x="438912" y="276225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f360492bd5_0_8"/>
            <p:cNvSpPr/>
            <p:nvPr/>
          </p:nvSpPr>
          <p:spPr>
            <a:xfrm>
              <a:off x="438912" y="2762250"/>
              <a:ext cx="57300" cy="857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f360492bd5_0_8"/>
            <p:cNvSpPr txBox="1"/>
            <p:nvPr/>
          </p:nvSpPr>
          <p:spPr>
            <a:xfrm>
              <a:off x="685800" y="276225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03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Les technologies utilisées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f360492bd5_0_8"/>
            <p:cNvSpPr/>
            <p:nvPr/>
          </p:nvSpPr>
          <p:spPr>
            <a:xfrm>
              <a:off x="6416040" y="276225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f360492bd5_0_8"/>
            <p:cNvSpPr/>
            <p:nvPr/>
          </p:nvSpPr>
          <p:spPr>
            <a:xfrm>
              <a:off x="6416040" y="2762250"/>
              <a:ext cx="57300" cy="8574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f360492bd5_0_8"/>
            <p:cNvSpPr txBox="1"/>
            <p:nvPr/>
          </p:nvSpPr>
          <p:spPr>
            <a:xfrm>
              <a:off x="6662738" y="276225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45200"/>
                  </a:solidFill>
                  <a:latin typeface="Arial"/>
                  <a:ea typeface="Arial"/>
                  <a:cs typeface="Arial"/>
                  <a:sym typeface="Arial"/>
                </a:rPr>
                <a:t>04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Architecture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f360492bd5_0_8"/>
            <p:cNvSpPr/>
            <p:nvPr/>
          </p:nvSpPr>
          <p:spPr>
            <a:xfrm>
              <a:off x="438912" y="381000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f360492bd5_0_8"/>
            <p:cNvSpPr/>
            <p:nvPr/>
          </p:nvSpPr>
          <p:spPr>
            <a:xfrm>
              <a:off x="438912" y="3810000"/>
              <a:ext cx="57300" cy="8574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f360492bd5_0_8"/>
            <p:cNvSpPr txBox="1"/>
            <p:nvPr/>
          </p:nvSpPr>
          <p:spPr>
            <a:xfrm>
              <a:off x="685800" y="381000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45200"/>
                  </a:solidFill>
                  <a:latin typeface="Arial"/>
                  <a:ea typeface="Arial"/>
                  <a:cs typeface="Arial"/>
                  <a:sym typeface="Arial"/>
                </a:rPr>
                <a:t>05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Schema Base de données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f360492bd5_0_8"/>
            <p:cNvSpPr/>
            <p:nvPr/>
          </p:nvSpPr>
          <p:spPr>
            <a:xfrm>
              <a:off x="6416040" y="381000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f360492bd5_0_8"/>
            <p:cNvSpPr/>
            <p:nvPr/>
          </p:nvSpPr>
          <p:spPr>
            <a:xfrm>
              <a:off x="6416040" y="3810000"/>
              <a:ext cx="57300" cy="857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f360492bd5_0_8"/>
            <p:cNvSpPr txBox="1"/>
            <p:nvPr/>
          </p:nvSpPr>
          <p:spPr>
            <a:xfrm>
              <a:off x="6662738" y="381000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06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Stratégie de test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f360492bd5_0_8"/>
            <p:cNvSpPr/>
            <p:nvPr/>
          </p:nvSpPr>
          <p:spPr>
            <a:xfrm>
              <a:off x="438912" y="485775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f360492bd5_0_8"/>
            <p:cNvSpPr/>
            <p:nvPr/>
          </p:nvSpPr>
          <p:spPr>
            <a:xfrm>
              <a:off x="438912" y="4857750"/>
              <a:ext cx="57300" cy="857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f360492bd5_0_8"/>
            <p:cNvSpPr txBox="1"/>
            <p:nvPr/>
          </p:nvSpPr>
          <p:spPr>
            <a:xfrm>
              <a:off x="685800" y="485775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1A9988"/>
                  </a:solidFill>
                  <a:latin typeface="Arial"/>
                  <a:ea typeface="Arial"/>
                  <a:cs typeface="Arial"/>
                  <a:sym typeface="Arial"/>
                </a:rPr>
                <a:t>07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Problèmes rencontrés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g3f360492bd5_0_8"/>
            <p:cNvSpPr/>
            <p:nvPr/>
          </p:nvSpPr>
          <p:spPr>
            <a:xfrm>
              <a:off x="6416040" y="4857750"/>
              <a:ext cx="5334000" cy="857400"/>
            </a:xfrm>
            <a:prstGeom prst="roundRect">
              <a:avLst>
                <a:gd fmla="val 444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f360492bd5_0_8"/>
            <p:cNvSpPr/>
            <p:nvPr/>
          </p:nvSpPr>
          <p:spPr>
            <a:xfrm>
              <a:off x="6416040" y="4857750"/>
              <a:ext cx="57300" cy="8574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f360492bd5_0_8"/>
            <p:cNvSpPr txBox="1"/>
            <p:nvPr/>
          </p:nvSpPr>
          <p:spPr>
            <a:xfrm>
              <a:off x="6662738" y="4857750"/>
              <a:ext cx="4857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45200"/>
                  </a:solidFill>
                  <a:latin typeface="Arial"/>
                  <a:ea typeface="Arial"/>
                  <a:cs typeface="Arial"/>
                  <a:sym typeface="Arial"/>
                </a:rPr>
                <a:t>08 </a:t>
              </a:r>
              <a:r>
                <a:rPr b="1" i="0" lang="en-US" sz="1600" u="none" cap="none" strike="noStrike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Rétrospective &amp; axes d'amélioration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360492bd5_10_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g3f360492bd5_10_0"/>
          <p:cNvGrpSpPr/>
          <p:nvPr/>
        </p:nvGrpSpPr>
        <p:grpSpPr>
          <a:xfrm>
            <a:off x="438912" y="256032"/>
            <a:ext cx="4023300" cy="219600"/>
            <a:chOff x="438912" y="256032"/>
            <a:chExt cx="4023300" cy="219600"/>
          </a:xfrm>
        </p:grpSpPr>
        <p:sp>
          <p:nvSpPr>
            <p:cNvPr id="333" name="Google Shape;333;g3f360492bd5_10_0"/>
            <p:cNvSpPr/>
            <p:nvPr/>
          </p:nvSpPr>
          <p:spPr>
            <a:xfrm>
              <a:off x="438912" y="256032"/>
              <a:ext cx="4023300" cy="21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g3f360492bd5_10_0"/>
            <p:cNvSpPr txBox="1"/>
            <p:nvPr/>
          </p:nvSpPr>
          <p:spPr>
            <a:xfrm>
              <a:off x="438912" y="256032"/>
              <a:ext cx="402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POST-MORTEM PROJET</a:t>
              </a:r>
              <a:endParaRPr b="1" sz="9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g3f360492bd5_10_0"/>
          <p:cNvGrpSpPr/>
          <p:nvPr/>
        </p:nvGrpSpPr>
        <p:grpSpPr>
          <a:xfrm>
            <a:off x="438912" y="718916"/>
            <a:ext cx="11201400" cy="694800"/>
            <a:chOff x="438912" y="585216"/>
            <a:chExt cx="11201400" cy="694800"/>
          </a:xfrm>
        </p:grpSpPr>
        <p:sp>
          <p:nvSpPr>
            <p:cNvPr id="336" name="Google Shape;336;g3f360492bd5_10_0"/>
            <p:cNvSpPr/>
            <p:nvPr/>
          </p:nvSpPr>
          <p:spPr>
            <a:xfrm>
              <a:off x="438912" y="585216"/>
              <a:ext cx="11201400" cy="69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g3f360492bd5_10_0"/>
            <p:cNvSpPr txBox="1"/>
            <p:nvPr/>
          </p:nvSpPr>
          <p:spPr>
            <a:xfrm>
              <a:off x="438912" y="585216"/>
              <a:ext cx="11201400" cy="6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45200"/>
                  </a:solidFill>
                </a:rPr>
                <a:t>01 </a:t>
              </a:r>
              <a:r>
                <a:rPr b="1" lang="en-US" sz="2600">
                  <a:solidFill>
                    <a:srgbClr val="141414"/>
                  </a:solidFill>
                </a:rPr>
                <a:t>Organisation</a:t>
              </a:r>
              <a:endParaRPr b="1" sz="26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g3f360492bd5_10_0"/>
          <p:cNvSpPr/>
          <p:nvPr/>
        </p:nvSpPr>
        <p:spPr>
          <a:xfrm>
            <a:off x="438912" y="1399032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g3f360492bd5_10_0"/>
          <p:cNvGrpSpPr/>
          <p:nvPr/>
        </p:nvGrpSpPr>
        <p:grpSpPr>
          <a:xfrm>
            <a:off x="438912" y="1571625"/>
            <a:ext cx="11292900" cy="333300"/>
            <a:chOff x="438912" y="1571625"/>
            <a:chExt cx="11292900" cy="333300"/>
          </a:xfrm>
        </p:grpSpPr>
        <p:sp>
          <p:nvSpPr>
            <p:cNvPr id="340" name="Google Shape;340;g3f360492bd5_10_0"/>
            <p:cNvSpPr/>
            <p:nvPr/>
          </p:nvSpPr>
          <p:spPr>
            <a:xfrm>
              <a:off x="438912" y="1571625"/>
              <a:ext cx="11292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g3f360492bd5_10_0"/>
            <p:cNvSpPr txBox="1"/>
            <p:nvPr/>
          </p:nvSpPr>
          <p:spPr>
            <a:xfrm>
              <a:off x="438912" y="1571625"/>
              <a:ext cx="11292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45200"/>
                  </a:solidFill>
                  <a:latin typeface="Arial"/>
                  <a:ea typeface="Arial"/>
                  <a:cs typeface="Arial"/>
                  <a:sym typeface="Arial"/>
                </a:rPr>
                <a:t>MÉTHODOLOGIE : AGILE</a:t>
              </a:r>
              <a:endParaRPr b="1" sz="1400">
                <a:solidFill>
                  <a:srgbClr val="F452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" name="Google Shape;342;g3f360492bd5_10_0"/>
          <p:cNvGrpSpPr/>
          <p:nvPr/>
        </p:nvGrpSpPr>
        <p:grpSpPr>
          <a:xfrm>
            <a:off x="438912" y="2095500"/>
            <a:ext cx="5429400" cy="2000100"/>
            <a:chOff x="438912" y="2095500"/>
            <a:chExt cx="5429400" cy="2000100"/>
          </a:xfrm>
        </p:grpSpPr>
        <p:sp>
          <p:nvSpPr>
            <p:cNvPr id="343" name="Google Shape;343;g3f360492bd5_10_0"/>
            <p:cNvSpPr/>
            <p:nvPr/>
          </p:nvSpPr>
          <p:spPr>
            <a:xfrm>
              <a:off x="438912" y="2095500"/>
              <a:ext cx="5429400" cy="2000100"/>
            </a:xfrm>
            <a:prstGeom prst="roundRect">
              <a:avLst>
                <a:gd fmla="val 190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g3f360492bd5_10_0"/>
            <p:cNvSpPr/>
            <p:nvPr/>
          </p:nvSpPr>
          <p:spPr>
            <a:xfrm>
              <a:off x="438912" y="2095500"/>
              <a:ext cx="76200" cy="20001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g3f360492bd5_10_0"/>
            <p:cNvSpPr txBox="1"/>
            <p:nvPr/>
          </p:nvSpPr>
          <p:spPr>
            <a:xfrm>
              <a:off x="724662" y="2095500"/>
              <a:ext cx="4953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Méthodologie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Approche Agile 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: Découpage en sprints, backlog priorisé, ajustement continu des priorités.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g3f360492bd5_10_0"/>
          <p:cNvGrpSpPr/>
          <p:nvPr/>
        </p:nvGrpSpPr>
        <p:grpSpPr>
          <a:xfrm>
            <a:off x="6302502" y="2095500"/>
            <a:ext cx="5429400" cy="2000100"/>
            <a:chOff x="6302502" y="2095500"/>
            <a:chExt cx="5429400" cy="2000100"/>
          </a:xfrm>
        </p:grpSpPr>
        <p:sp>
          <p:nvSpPr>
            <p:cNvPr id="347" name="Google Shape;347;g3f360492bd5_10_0"/>
            <p:cNvSpPr/>
            <p:nvPr/>
          </p:nvSpPr>
          <p:spPr>
            <a:xfrm>
              <a:off x="6302502" y="2095500"/>
              <a:ext cx="5429400" cy="2000100"/>
            </a:xfrm>
            <a:prstGeom prst="roundRect">
              <a:avLst>
                <a:gd fmla="val 190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g3f360492bd5_10_0"/>
            <p:cNvSpPr/>
            <p:nvPr/>
          </p:nvSpPr>
          <p:spPr>
            <a:xfrm>
              <a:off x="6302502" y="2095500"/>
              <a:ext cx="76200" cy="20001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f360492bd5_10_0"/>
            <p:cNvSpPr txBox="1"/>
            <p:nvPr/>
          </p:nvSpPr>
          <p:spPr>
            <a:xfrm>
              <a:off x="6588252" y="2095500"/>
              <a:ext cx="4953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Outils utilisés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Gestion de tâches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:  Notion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Versioning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: GitHub, avec des branches par fonctionnalité et revue avant fusion.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Communication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: Discord pour les échanges rapides.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g3f360492bd5_10_0"/>
          <p:cNvGrpSpPr/>
          <p:nvPr/>
        </p:nvGrpSpPr>
        <p:grpSpPr>
          <a:xfrm>
            <a:off x="438912" y="4286250"/>
            <a:ext cx="5429400" cy="2000100"/>
            <a:chOff x="438912" y="4286250"/>
            <a:chExt cx="5429400" cy="2000100"/>
          </a:xfrm>
        </p:grpSpPr>
        <p:sp>
          <p:nvSpPr>
            <p:cNvPr id="351" name="Google Shape;351;g3f360492bd5_10_0"/>
            <p:cNvSpPr/>
            <p:nvPr/>
          </p:nvSpPr>
          <p:spPr>
            <a:xfrm>
              <a:off x="438912" y="4286250"/>
              <a:ext cx="5429400" cy="2000100"/>
            </a:xfrm>
            <a:prstGeom prst="roundRect">
              <a:avLst>
                <a:gd fmla="val 190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f360492bd5_10_0"/>
            <p:cNvSpPr/>
            <p:nvPr/>
          </p:nvSpPr>
          <p:spPr>
            <a:xfrm>
              <a:off x="438912" y="4286250"/>
              <a:ext cx="76200" cy="2000100"/>
            </a:xfrm>
            <a:prstGeom prst="rect">
              <a:avLst/>
            </a:prstGeom>
            <a:solidFill>
              <a:srgbClr val="2D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g3f360492bd5_10_0"/>
            <p:cNvSpPr txBox="1"/>
            <p:nvPr/>
          </p:nvSpPr>
          <p:spPr>
            <a:xfrm>
              <a:off x="724662" y="4286250"/>
              <a:ext cx="4953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Répartition des rôles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Pôles clair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: Organisation structurée entre la robotique</a:t>
              </a:r>
              <a:r>
                <a:rPr lang="en-US" sz="1050">
                  <a:solidFill>
                    <a:srgbClr val="5C5C5C"/>
                  </a:solidFill>
                </a:rPr>
                <a:t> et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le web.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g3f360492bd5_10_0"/>
          <p:cNvGrpSpPr/>
          <p:nvPr/>
        </p:nvGrpSpPr>
        <p:grpSpPr>
          <a:xfrm>
            <a:off x="6302502" y="4286250"/>
            <a:ext cx="5429400" cy="2000100"/>
            <a:chOff x="6302502" y="4286250"/>
            <a:chExt cx="5429400" cy="2000100"/>
          </a:xfrm>
        </p:grpSpPr>
        <p:sp>
          <p:nvSpPr>
            <p:cNvPr id="355" name="Google Shape;355;g3f360492bd5_10_0"/>
            <p:cNvSpPr/>
            <p:nvPr/>
          </p:nvSpPr>
          <p:spPr>
            <a:xfrm>
              <a:off x="6302502" y="4286250"/>
              <a:ext cx="5429400" cy="2000100"/>
            </a:xfrm>
            <a:prstGeom prst="roundRect">
              <a:avLst>
                <a:gd fmla="val 1904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g3f360492bd5_10_0"/>
            <p:cNvSpPr/>
            <p:nvPr/>
          </p:nvSpPr>
          <p:spPr>
            <a:xfrm>
              <a:off x="6302502" y="4286250"/>
              <a:ext cx="76200" cy="2000100"/>
            </a:xfrm>
            <a:prstGeom prst="rect">
              <a:avLst/>
            </a:prstGeom>
            <a:solidFill>
              <a:srgbClr val="966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f360492bd5_10_0"/>
            <p:cNvSpPr txBox="1"/>
            <p:nvPr/>
          </p:nvSpPr>
          <p:spPr>
            <a:xfrm>
              <a:off x="6588252" y="4286250"/>
              <a:ext cx="4953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Standards qualité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Revues de code</a:t>
              </a:r>
              <a:r>
                <a:rPr lang="en-US" sz="10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: Validation systématique avant merge pour une base saine.</a:t>
              </a:r>
              <a:endParaRPr sz="10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" name="Google Shape;358;g3f360492bd5_10_0"/>
          <p:cNvSpPr/>
          <p:nvPr/>
        </p:nvSpPr>
        <p:spPr>
          <a:xfrm>
            <a:off x="438912" y="6537960"/>
            <a:ext cx="11292900" cy="72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g3f360492bd5_10_0"/>
          <p:cNvGrpSpPr/>
          <p:nvPr/>
        </p:nvGrpSpPr>
        <p:grpSpPr>
          <a:xfrm>
            <a:off x="438912" y="6583680"/>
            <a:ext cx="3200400" cy="155400"/>
            <a:chOff x="438912" y="6583680"/>
            <a:chExt cx="3200400" cy="155400"/>
          </a:xfrm>
        </p:grpSpPr>
        <p:sp>
          <p:nvSpPr>
            <p:cNvPr id="360" name="Google Shape;360;g3f360492bd5_10_0"/>
            <p:cNvSpPr/>
            <p:nvPr/>
          </p:nvSpPr>
          <p:spPr>
            <a:xfrm>
              <a:off x="438912" y="6583680"/>
              <a:ext cx="3200400" cy="15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g3f360492bd5_10_0"/>
            <p:cNvSpPr txBox="1"/>
            <p:nvPr/>
          </p:nvSpPr>
          <p:spPr>
            <a:xfrm>
              <a:off x="438912" y="6583680"/>
              <a:ext cx="3200400" cy="1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EVO-BOTICS · HETIC WEB3</a:t>
              </a:r>
              <a:endParaRPr b="1" sz="75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g3f360492bd5_10_0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 txBox="1"/>
          <p:nvPr/>
        </p:nvSpPr>
        <p:spPr>
          <a:xfrm>
            <a:off x="438912" y="256032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484637" y="879841"/>
            <a:ext cx="112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02 </a:t>
            </a:r>
            <a:r>
              <a:rPr b="1" lang="en-US" sz="2600">
                <a:solidFill>
                  <a:srgbClr val="141414"/>
                </a:solidFill>
              </a:rPr>
              <a:t>Présentation</a:t>
            </a:r>
            <a:endParaRPr b="1" sz="2600">
              <a:solidFill>
                <a:srgbClr val="141414"/>
              </a:solidFill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38912" y="1399032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38912" y="6537960"/>
            <a:ext cx="11292900" cy="7200"/>
          </a:xfrm>
          <a:prstGeom prst="rect">
            <a:avLst/>
          </a:prstGeom>
          <a:solidFill>
            <a:srgbClr val="BEBEB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 txBox="1"/>
          <p:nvPr/>
        </p:nvSpPr>
        <p:spPr>
          <a:xfrm>
            <a:off x="438912" y="6583680"/>
            <a:ext cx="3200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15"/>
          <p:cNvGrpSpPr/>
          <p:nvPr/>
        </p:nvGrpSpPr>
        <p:grpSpPr>
          <a:xfrm>
            <a:off x="438912" y="1905000"/>
            <a:ext cx="5429400" cy="3619500"/>
            <a:chOff x="438912" y="1905000"/>
            <a:chExt cx="5429400" cy="3619500"/>
          </a:xfrm>
        </p:grpSpPr>
        <p:sp>
          <p:nvSpPr>
            <p:cNvPr id="373" name="Google Shape;373;p15"/>
            <p:cNvSpPr/>
            <p:nvPr/>
          </p:nvSpPr>
          <p:spPr>
            <a:xfrm>
              <a:off x="438912" y="1905000"/>
              <a:ext cx="5429400" cy="3619500"/>
            </a:xfrm>
            <a:prstGeom prst="roundRect">
              <a:avLst>
                <a:gd fmla="val 1052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438912" y="1905000"/>
              <a:ext cx="76200" cy="3619500"/>
            </a:xfrm>
            <a:prstGeom prst="rect">
              <a:avLst/>
            </a:prstGeom>
            <a:solidFill>
              <a:srgbClr val="F452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 txBox="1"/>
            <p:nvPr/>
          </p:nvSpPr>
          <p:spPr>
            <a:xfrm>
              <a:off x="724662" y="1905000"/>
              <a:ext cx="4857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Contexte</a:t>
              </a:r>
              <a:endParaRPr b="1" sz="2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Un robot autonome d’accueil pour centre d’affaires et espace de </a:t>
              </a:r>
              <a:r>
                <a:rPr lang="en-US" sz="1500">
                  <a:solidFill>
                    <a:srgbClr val="5C5C5C"/>
                  </a:solidFill>
                </a:rPr>
                <a:t>c</a:t>
              </a:r>
              <a:r>
                <a:rPr b="0" lang="en-US" sz="15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lang="en-US" sz="1500">
                  <a:solidFill>
                    <a:srgbClr val="5C5C5C"/>
                  </a:solidFill>
                </a:rPr>
                <a:t>working</a:t>
              </a:r>
              <a:endParaRPr b="0" sz="15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15"/>
          <p:cNvGrpSpPr/>
          <p:nvPr/>
        </p:nvGrpSpPr>
        <p:grpSpPr>
          <a:xfrm>
            <a:off x="6321552" y="1905000"/>
            <a:ext cx="5429400" cy="3619500"/>
            <a:chOff x="6321552" y="1905000"/>
            <a:chExt cx="5429400" cy="3619500"/>
          </a:xfrm>
        </p:grpSpPr>
        <p:sp>
          <p:nvSpPr>
            <p:cNvPr id="377" name="Google Shape;377;p15"/>
            <p:cNvSpPr/>
            <p:nvPr/>
          </p:nvSpPr>
          <p:spPr>
            <a:xfrm>
              <a:off x="6321552" y="1905000"/>
              <a:ext cx="5429400" cy="3619500"/>
            </a:xfrm>
            <a:prstGeom prst="roundRect">
              <a:avLst>
                <a:gd fmla="val 1052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321552" y="1905000"/>
              <a:ext cx="76200" cy="36195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 txBox="1"/>
            <p:nvPr/>
          </p:nvSpPr>
          <p:spPr>
            <a:xfrm>
              <a:off x="6607302" y="1905000"/>
              <a:ext cx="4857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Objectif</a:t>
              </a:r>
              <a:endParaRPr b="1" sz="22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Améliorer l’expérience visiteur, réduire la charge du personnel et fiabiliser l’orientation vers les salles de réunion</a:t>
              </a:r>
              <a:endParaRPr b="0" sz="15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5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"/>
          <p:cNvSpPr txBox="1"/>
          <p:nvPr/>
        </p:nvSpPr>
        <p:spPr>
          <a:xfrm>
            <a:off x="438912" y="25603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438912" y="840266"/>
            <a:ext cx="112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03 </a:t>
            </a:r>
            <a:r>
              <a:rPr b="1" lang="en-US" sz="2600">
                <a:solidFill>
                  <a:srgbClr val="141414"/>
                </a:solidFill>
              </a:rPr>
              <a:t>Les technologies utilisées</a:t>
            </a:r>
            <a:endParaRPr b="1" sz="2600">
              <a:solidFill>
                <a:srgbClr val="141414"/>
              </a:solidFill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438912" y="1399032"/>
            <a:ext cx="11292840" cy="1463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438912" y="6537960"/>
            <a:ext cx="11292900" cy="7200"/>
          </a:xfrm>
          <a:prstGeom prst="rect">
            <a:avLst/>
          </a:prstGeom>
          <a:solidFill>
            <a:srgbClr val="BEBEB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438912" y="6583680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438912" y="1783080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38912" y="1783080"/>
            <a:ext cx="64008" cy="1417320"/>
          </a:xfrm>
          <a:prstGeom prst="rect">
            <a:avLst/>
          </a:prstGeom>
          <a:solidFill>
            <a:srgbClr val="F452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640080" y="1911095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Robot : ROS 2 Humble + Nav2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640080" y="2286000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ROS 2 sépare les fonctions en nœuds. Nav2 gère la carte, la position et les déplacements.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325112" y="1783080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325112" y="1783080"/>
            <a:ext cx="64008" cy="1417320"/>
          </a:xfrm>
          <a:prstGeom prst="rect">
            <a:avLst/>
          </a:prstGeom>
          <a:solidFill>
            <a:srgbClr val="2D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>
            <a:off x="4526280" y="1911095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Voix : Whisper + Piper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4526280" y="2286000"/>
            <a:ext cx="313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Whisper transforme la voix en texte. 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Piper transforme le texte en voix. Avec des modèles locaux, sans cloud.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8211312" y="1783080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8211312" y="1783080"/>
            <a:ext cx="64008" cy="1417320"/>
          </a:xfrm>
          <a:prstGeom prst="rect">
            <a:avLst/>
          </a:prstGeom>
          <a:solidFill>
            <a:srgbClr val="966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8412480" y="1911095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Vision : OpenCV + YOLO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8412480" y="2286000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OpenCV lit les QR codes. YOLO détecte les personnes devant le robot.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438912" y="3547872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38912" y="3547872"/>
            <a:ext cx="64008" cy="1417320"/>
          </a:xfrm>
          <a:prstGeom prst="rect">
            <a:avLst/>
          </a:prstGeom>
          <a:solidFill>
            <a:srgbClr val="F452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640080" y="3675887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Backend : Laravel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 txBox="1"/>
          <p:nvPr/>
        </p:nvSpPr>
        <p:spPr>
          <a:xfrm>
            <a:off x="640080" y="4050791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Laravel gère les réservations, les utilisateurs, les rôles et la validation des QR.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325112" y="3547872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325112" y="3547872"/>
            <a:ext cx="64008" cy="1417320"/>
          </a:xfrm>
          <a:prstGeom prst="rect">
            <a:avLst/>
          </a:prstGeom>
          <a:solidFill>
            <a:srgbClr val="2D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4526280" y="3675887"/>
            <a:ext cx="313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Interface : React + Inertia / Livewire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 txBox="1"/>
          <p:nvPr/>
        </p:nvSpPr>
        <p:spPr>
          <a:xfrm>
            <a:off x="4526280" y="4050791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L’interface affiche les réservations et le tableau de bord du robot.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8211312" y="3547872"/>
            <a:ext cx="3520440" cy="141732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8211312" y="3547872"/>
            <a:ext cx="64008" cy="1417320"/>
          </a:xfrm>
          <a:prstGeom prst="rect">
            <a:avLst/>
          </a:prstGeom>
          <a:solidFill>
            <a:srgbClr val="966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 txBox="1"/>
          <p:nvPr/>
        </p:nvSpPr>
        <p:spPr>
          <a:xfrm>
            <a:off x="8412480" y="3675887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Lien web-robot : rosbridge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"/>
          <p:cNvSpPr txBox="1"/>
          <p:nvPr/>
        </p:nvSpPr>
        <p:spPr>
          <a:xfrm>
            <a:off x="8412480" y="4050791"/>
            <a:ext cx="3136392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Le navigateur reçoit les états ROS et peut envoyer les commandes autorisées.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360492bd5_34_0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g3f360492bd5_34_0"/>
          <p:cNvSpPr txBox="1"/>
          <p:nvPr/>
        </p:nvSpPr>
        <p:spPr>
          <a:xfrm>
            <a:off x="495287" y="903566"/>
            <a:ext cx="112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04 </a:t>
            </a:r>
            <a:r>
              <a:rPr b="1" lang="en-US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Architecture de Project</a:t>
            </a:r>
            <a:endParaRPr b="1" sz="2400">
              <a:solidFill>
                <a:srgbClr val="141414"/>
              </a:solidFill>
            </a:endParaRPr>
          </a:p>
        </p:txBody>
      </p:sp>
      <p:sp>
        <p:nvSpPr>
          <p:cNvPr id="422" name="Google Shape;422;g3f360492bd5_34_0"/>
          <p:cNvSpPr/>
          <p:nvPr/>
        </p:nvSpPr>
        <p:spPr>
          <a:xfrm>
            <a:off x="449562" y="1422757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g3f360492bd5_34_0" title="ig_05ade347d38fefd2016a4cfd36e62c8191bdc53035161ed06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363" y="1470350"/>
            <a:ext cx="8933274" cy="50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f360492bd5_34_0"/>
          <p:cNvSpPr txBox="1"/>
          <p:nvPr/>
        </p:nvSpPr>
        <p:spPr>
          <a:xfrm>
            <a:off x="438912" y="256032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3597195f9_0_19"/>
          <p:cNvSpPr txBox="1"/>
          <p:nvPr>
            <p:ph idx="4294967295" type="title"/>
          </p:nvPr>
        </p:nvSpPr>
        <p:spPr>
          <a:xfrm>
            <a:off x="911000" y="7846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Base de données de l’application de réservation</a:t>
            </a:r>
            <a:endParaRPr sz="2600"/>
          </a:p>
        </p:txBody>
      </p:sp>
      <p:sp>
        <p:nvSpPr>
          <p:cNvPr id="431" name="Google Shape;431;g3f3597195f9_0_19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g3f3597195f9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050" y="1913572"/>
            <a:ext cx="7759700" cy="42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g3f3597195f9_0_19"/>
          <p:cNvSpPr txBox="1"/>
          <p:nvPr/>
        </p:nvSpPr>
        <p:spPr>
          <a:xfrm>
            <a:off x="438912" y="256032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"/>
          <p:cNvSpPr txBox="1"/>
          <p:nvPr/>
        </p:nvSpPr>
        <p:spPr>
          <a:xfrm>
            <a:off x="438912" y="25603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484637" y="830616"/>
            <a:ext cx="112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06 </a:t>
            </a:r>
            <a:r>
              <a:rPr b="1" lang="en-US" sz="2600">
                <a:solidFill>
                  <a:srgbClr val="141414"/>
                </a:solidFill>
              </a:rPr>
              <a:t>Stratégie de test</a:t>
            </a:r>
            <a:endParaRPr b="1" sz="2600">
              <a:solidFill>
                <a:srgbClr val="141414"/>
              </a:solidFill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438912" y="1399032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2720195" y="1771647"/>
            <a:ext cx="214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2720195" y="2439160"/>
            <a:ext cx="224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tests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5573123" y="1771647"/>
            <a:ext cx="214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5573123" y="2439160"/>
            <a:ext cx="224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tests C++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8426051" y="1771647"/>
            <a:ext cx="214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41414"/>
                </a:solidFill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8426051" y="2439160"/>
            <a:ext cx="224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tests PHP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502920" y="3401568"/>
            <a:ext cx="3429000" cy="1389888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502920" y="3401568"/>
            <a:ext cx="64008" cy="1389888"/>
          </a:xfrm>
          <a:prstGeom prst="rect">
            <a:avLst/>
          </a:prstGeom>
          <a:solidFill>
            <a:srgbClr val="F452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704088" y="3529584"/>
            <a:ext cx="304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41414"/>
                </a:solidFill>
              </a:rPr>
              <a:t>Unitaire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704088" y="3904488"/>
            <a:ext cx="304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C5C5C"/>
                </a:solidFill>
              </a:rPr>
              <a:t>vérifie qu’une fonction ou un composant marche correctement, isolé du reste de l’application.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4370832" y="3401568"/>
            <a:ext cx="3429000" cy="1389888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370832" y="3401568"/>
            <a:ext cx="64008" cy="1389888"/>
          </a:xfrm>
          <a:prstGeom prst="rect">
            <a:avLst/>
          </a:prstGeom>
          <a:solidFill>
            <a:srgbClr val="2D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4572000" y="3529584"/>
            <a:ext cx="3044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Intégration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4572000" y="3904488"/>
            <a:ext cx="304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C5C5C"/>
                </a:solidFill>
              </a:rPr>
              <a:t>vérifie que plusieurs modules ou services communiquent bien entre eux.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8238744" y="3401568"/>
            <a:ext cx="3429000" cy="1389888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8238744" y="3401568"/>
            <a:ext cx="64008" cy="1389888"/>
          </a:xfrm>
          <a:prstGeom prst="rect">
            <a:avLst/>
          </a:prstGeom>
          <a:solidFill>
            <a:srgbClr val="966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8439912" y="3529584"/>
            <a:ext cx="304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41414"/>
                </a:solidFill>
              </a:rPr>
              <a:t>End to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8439912" y="3904488"/>
            <a:ext cx="304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C5C5C"/>
                </a:solidFill>
              </a:rPr>
              <a:t>vérifie un parcours complet de l’utilisateur, du début à la fin de l’application.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3597195f9_0_0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3597195f9_0_0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Stratégie de tests et validation</a:t>
            </a:r>
            <a:endParaRPr b="1" i="0" sz="27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g3f3597195f9_0_0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g3f3597195f9_0_0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3597195f9_0_0"/>
          <p:cNvSpPr/>
          <p:nvPr/>
        </p:nvSpPr>
        <p:spPr>
          <a:xfrm>
            <a:off x="411480" y="1847088"/>
            <a:ext cx="3429000" cy="2011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3597195f9_0_0"/>
          <p:cNvSpPr/>
          <p:nvPr/>
        </p:nvSpPr>
        <p:spPr>
          <a:xfrm>
            <a:off x="411480" y="1847088"/>
            <a:ext cx="63900" cy="2011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3597195f9_0_0"/>
          <p:cNvSpPr/>
          <p:nvPr/>
        </p:nvSpPr>
        <p:spPr>
          <a:xfrm>
            <a:off x="612648" y="1984248"/>
            <a:ext cx="306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Test E2E (End-2-End)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3597195f9_0_0"/>
          <p:cNvSpPr/>
          <p:nvPr/>
        </p:nvSpPr>
        <p:spPr>
          <a:xfrm>
            <a:off x="612648" y="2377440"/>
            <a:ext cx="30633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Outil utilisé</a:t>
            </a:r>
            <a:r>
              <a:rPr b="0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 : Thunder Client</a:t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r>
              <a:rPr b="0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 : Vérifier que toutes les requêtes concernant la page utilisateur marchent. Exemples sur les images : /sessions/book et /my-reservartions</a:t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g3f3597195f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0261" y="1718951"/>
            <a:ext cx="3591472" cy="20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f3597195f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6001" y="1654875"/>
            <a:ext cx="3231665" cy="21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f3597195f9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3576" y="3985325"/>
            <a:ext cx="4052575" cy="239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f3597195f9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8100" y="3907225"/>
            <a:ext cx="3231676" cy="254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0c118c5d3_1_1467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0c118c5d3_1_1467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Stratégie de tests et validation</a:t>
            </a:r>
            <a:endParaRPr b="1" i="0" sz="27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g3f0c118c5d3_1_1467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g3f0c118c5d3_1_1467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g3f0c118c5d3_1_1467" title="video test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900" y="1908395"/>
            <a:ext cx="6288574" cy="39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f0c118c5d3_1_1467"/>
          <p:cNvSpPr/>
          <p:nvPr/>
        </p:nvSpPr>
        <p:spPr>
          <a:xfrm>
            <a:off x="411480" y="1847088"/>
            <a:ext cx="3429000" cy="201180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0c118c5d3_1_1467"/>
          <p:cNvSpPr/>
          <p:nvPr/>
        </p:nvSpPr>
        <p:spPr>
          <a:xfrm>
            <a:off x="411480" y="1847088"/>
            <a:ext cx="63900" cy="2011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0c118c5d3_1_1467"/>
          <p:cNvSpPr/>
          <p:nvPr/>
        </p:nvSpPr>
        <p:spPr>
          <a:xfrm>
            <a:off x="612648" y="1984248"/>
            <a:ext cx="3063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Test E2E (End-2-End)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f0c118c5d3_1_1467"/>
          <p:cNvSpPr/>
          <p:nvPr/>
        </p:nvSpPr>
        <p:spPr>
          <a:xfrm>
            <a:off x="612648" y="2377440"/>
            <a:ext cx="30633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Outil utilisé</a:t>
            </a:r>
            <a:r>
              <a:rPr b="0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 : Playwright python</a:t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r>
              <a:rPr b="0" i="0" lang="en-US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 : Valider que la plateforme de réservation de salle fonctionne et que le mail de confirmation est bien envoyé</a:t>
            </a:r>
            <a:endParaRPr b="0" i="0" sz="10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g3f0c118c5d3_1_1467" title="Screenshot 2026-07-04 at 11.24.2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5850" y="652538"/>
            <a:ext cx="2877100" cy="54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3f0c118c5d3_1_1467" title="Screenshot 2026-07-04 at 11.26.08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1274" y="3320601"/>
            <a:ext cx="3063299" cy="31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0c118c5d3_1_1501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0c118c5d3_1_1501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Analyse qualité / performance / sécurité</a:t>
            </a:r>
            <a:endParaRPr b="1" i="0" sz="27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g3f0c118c5d3_1_1501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g3f0c118c5d3_1_1501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" name="Google Shape;502;g3f0c118c5d3_1_1501"/>
          <p:cNvGrpSpPr/>
          <p:nvPr/>
        </p:nvGrpSpPr>
        <p:grpSpPr>
          <a:xfrm>
            <a:off x="571500" y="1524000"/>
            <a:ext cx="5143500" cy="3524400"/>
            <a:chOff x="571500" y="1524000"/>
            <a:chExt cx="5143500" cy="3524400"/>
          </a:xfrm>
        </p:grpSpPr>
        <p:sp>
          <p:nvSpPr>
            <p:cNvPr id="503" name="Google Shape;503;g3f0c118c5d3_1_1501"/>
            <p:cNvSpPr txBox="1"/>
            <p:nvPr/>
          </p:nvSpPr>
          <p:spPr>
            <a:xfrm>
              <a:off x="571500" y="1524000"/>
              <a:ext cx="5143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B3261E"/>
                  </a:solidFill>
                  <a:latin typeface="Arial"/>
                  <a:ea typeface="Arial"/>
                  <a:cs typeface="Arial"/>
                  <a:sym typeface="Arial"/>
                </a:rPr>
                <a:t>• Contrôle d'authenticité : Système de QR codes signés</a:t>
              </a:r>
              <a:endParaRPr b="1" i="0" sz="14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" name="Google Shape;504;g3f0c118c5d3_1_1501"/>
            <p:cNvGrpSpPr/>
            <p:nvPr/>
          </p:nvGrpSpPr>
          <p:grpSpPr>
            <a:xfrm>
              <a:off x="571500" y="2000250"/>
              <a:ext cx="5048400" cy="857400"/>
              <a:chOff x="571500" y="2000250"/>
              <a:chExt cx="5048400" cy="857400"/>
            </a:xfrm>
          </p:grpSpPr>
          <p:sp>
            <p:nvSpPr>
              <p:cNvPr id="505" name="Google Shape;505;g3f0c118c5d3_1_1501"/>
              <p:cNvSpPr txBox="1"/>
              <p:nvPr/>
            </p:nvSpPr>
            <p:spPr>
              <a:xfrm>
                <a:off x="571500" y="2000250"/>
                <a:ext cx="4764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rgbClr val="B3261E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i="0" sz="2400" u="none" cap="none" strike="noStrike">
                  <a:solidFill>
                    <a:srgbClr val="B326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g3f0c118c5d3_1_1501"/>
              <p:cNvSpPr txBox="1"/>
              <p:nvPr/>
            </p:nvSpPr>
            <p:spPr>
              <a:xfrm>
                <a:off x="1143000" y="2000250"/>
                <a:ext cx="44769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Clé Secrète</a:t>
                </a:r>
                <a:endParaRPr b="1" i="0" sz="12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Utilisation d'une clé privée (app.key), stockée de manière sécurisée et non visible dans le QR code.</a:t>
                </a:r>
                <a:endParaRPr b="0" i="0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07" name="Google Shape;507;g3f0c118c5d3_1_1501"/>
            <p:cNvCxnSpPr/>
            <p:nvPr/>
          </p:nvCxnSpPr>
          <p:spPr>
            <a:xfrm>
              <a:off x="571500" y="2905125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08" name="Google Shape;508;g3f0c118c5d3_1_1501"/>
            <p:cNvGrpSpPr/>
            <p:nvPr/>
          </p:nvGrpSpPr>
          <p:grpSpPr>
            <a:xfrm>
              <a:off x="571500" y="3095625"/>
              <a:ext cx="5048400" cy="857400"/>
              <a:chOff x="571500" y="3095625"/>
              <a:chExt cx="5048400" cy="857400"/>
            </a:xfrm>
          </p:grpSpPr>
          <p:sp>
            <p:nvSpPr>
              <p:cNvPr id="509" name="Google Shape;509;g3f0c118c5d3_1_1501"/>
              <p:cNvSpPr txBox="1"/>
              <p:nvPr/>
            </p:nvSpPr>
            <p:spPr>
              <a:xfrm>
                <a:off x="571500" y="3095625"/>
                <a:ext cx="4764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rgbClr val="B3261E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i="0" sz="2400" u="none" cap="none" strike="noStrike">
                  <a:solidFill>
                    <a:srgbClr val="B326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f0c118c5d3_1_1501"/>
              <p:cNvSpPr txBox="1"/>
              <p:nvPr/>
            </p:nvSpPr>
            <p:spPr>
              <a:xfrm>
                <a:off x="1143000" y="3095625"/>
                <a:ext cx="44769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Recalcul</a:t>
                </a:r>
                <a:endParaRPr b="1" i="0" sz="12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Génération d'une signature locale via l'algorithme SHA256 en combinant le payload et la clé secrète.</a:t>
                </a:r>
                <a:endParaRPr b="0" i="0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11" name="Google Shape;511;g3f0c118c5d3_1_1501"/>
            <p:cNvCxnSpPr/>
            <p:nvPr/>
          </p:nvCxnSpPr>
          <p:spPr>
            <a:xfrm>
              <a:off x="571500" y="4000500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2" name="Google Shape;512;g3f0c118c5d3_1_1501"/>
            <p:cNvGrpSpPr/>
            <p:nvPr/>
          </p:nvGrpSpPr>
          <p:grpSpPr>
            <a:xfrm>
              <a:off x="571500" y="4191000"/>
              <a:ext cx="5048400" cy="857400"/>
              <a:chOff x="571500" y="4191000"/>
              <a:chExt cx="5048400" cy="857400"/>
            </a:xfrm>
          </p:grpSpPr>
          <p:sp>
            <p:nvSpPr>
              <p:cNvPr id="513" name="Google Shape;513;g3f0c118c5d3_1_1501"/>
              <p:cNvSpPr txBox="1"/>
              <p:nvPr/>
            </p:nvSpPr>
            <p:spPr>
              <a:xfrm>
                <a:off x="571500" y="4191000"/>
                <a:ext cx="476400" cy="476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rgbClr val="B3261E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i="0" sz="2400" u="none" cap="none" strike="noStrike">
                  <a:solidFill>
                    <a:srgbClr val="B3261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g3f0c118c5d3_1_1501"/>
              <p:cNvSpPr txBox="1"/>
              <p:nvPr/>
            </p:nvSpPr>
            <p:spPr>
              <a:xfrm>
                <a:off x="1143000" y="4191000"/>
                <a:ext cx="44769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Validation</a:t>
                </a:r>
                <a:endParaRPr b="1" i="0" sz="12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Comparaison entre la signature reçue et la signature recalculée (expected).</a:t>
                </a:r>
                <a:endParaRPr b="0" i="0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5" name="Google Shape;515;g3f0c118c5d3_1_1501"/>
          <p:cNvGrpSpPr/>
          <p:nvPr/>
        </p:nvGrpSpPr>
        <p:grpSpPr>
          <a:xfrm>
            <a:off x="6096000" y="1524000"/>
            <a:ext cx="5524500" cy="4953000"/>
            <a:chOff x="6096000" y="1524000"/>
            <a:chExt cx="5524500" cy="4953000"/>
          </a:xfrm>
        </p:grpSpPr>
        <p:sp>
          <p:nvSpPr>
            <p:cNvPr id="516" name="Google Shape;516;g3f0c118c5d3_1_1501"/>
            <p:cNvSpPr/>
            <p:nvPr/>
          </p:nvSpPr>
          <p:spPr>
            <a:xfrm>
              <a:off x="6096000" y="1524000"/>
              <a:ext cx="5524500" cy="2691300"/>
            </a:xfrm>
            <a:prstGeom prst="roundRect">
              <a:avLst>
                <a:gd fmla="val 3750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f0c118c5d3_1_1501"/>
            <p:cNvSpPr txBox="1"/>
            <p:nvPr/>
          </p:nvSpPr>
          <p:spPr>
            <a:xfrm>
              <a:off x="6381750" y="17145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Implémentation de la signature</a:t>
              </a:r>
              <a:endParaRPr b="1" i="0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f0c118c5d3_1_1501"/>
            <p:cNvSpPr/>
            <p:nvPr/>
          </p:nvSpPr>
          <p:spPr>
            <a:xfrm>
              <a:off x="6381750" y="2047875"/>
              <a:ext cx="4953000" cy="1428900"/>
            </a:xfrm>
            <a:prstGeom prst="roundRect">
              <a:avLst>
                <a:gd fmla="val 4000" name="adj"/>
              </a:avLst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3f0c118c5d3_1_1501"/>
            <p:cNvSpPr/>
            <p:nvPr/>
          </p:nvSpPr>
          <p:spPr>
            <a:xfrm>
              <a:off x="6524625" y="2143125"/>
              <a:ext cx="95400" cy="954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f0c118c5d3_1_1501"/>
            <p:cNvSpPr/>
            <p:nvPr/>
          </p:nvSpPr>
          <p:spPr>
            <a:xfrm>
              <a:off x="6667500" y="2143125"/>
              <a:ext cx="95400" cy="954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f0c118c5d3_1_1501"/>
            <p:cNvSpPr/>
            <p:nvPr/>
          </p:nvSpPr>
          <p:spPr>
            <a:xfrm>
              <a:off x="6810375" y="2143125"/>
              <a:ext cx="95400" cy="954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2" name="Google Shape;522;g3f0c118c5d3_1_1501"/>
            <p:cNvPicPr preferRelativeResize="0"/>
            <p:nvPr/>
          </p:nvPicPr>
          <p:blipFill rotWithShape="1">
            <a:blip r:embed="rId3">
              <a:alphaModFix/>
            </a:blip>
            <a:srcRect b="179" l="0" r="0" t="179"/>
            <a:stretch/>
          </p:blipFill>
          <p:spPr>
            <a:xfrm>
              <a:off x="6572250" y="2381250"/>
              <a:ext cx="4572000" cy="9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g3f0c118c5d3_1_1501"/>
            <p:cNvSpPr txBox="1"/>
            <p:nvPr/>
          </p:nvSpPr>
          <p:spPr>
            <a:xfrm>
              <a:off x="6381750" y="3619500"/>
              <a:ext cx="4953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Sécurité du processus :</a:t>
              </a:r>
              <a:endParaRPr b="1" i="0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Le hachage HMAC-SHA256 garantit que le contenu du QR code n'a pas été altéré en transit, car toute modification invaliderait la signature.</a:t>
              </a:r>
              <a:endParaRPr b="0" i="0" sz="10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f0c118c5d3_1_1501"/>
            <p:cNvSpPr/>
            <p:nvPr/>
          </p:nvSpPr>
          <p:spPr>
            <a:xfrm>
              <a:off x="6096000" y="4429200"/>
              <a:ext cx="5524500" cy="2047800"/>
            </a:xfrm>
            <a:prstGeom prst="roundRect">
              <a:avLst>
                <a:gd fmla="val 6666" name="adj"/>
              </a:avLst>
            </a:prstGeom>
            <a:solidFill>
              <a:srgbClr val="F9FAFB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f0c118c5d3_1_1501"/>
            <p:cNvSpPr txBox="1"/>
            <p:nvPr/>
          </p:nvSpPr>
          <p:spPr>
            <a:xfrm>
              <a:off x="6381750" y="4705350"/>
              <a:ext cx="2000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Plateforme de réservation</a:t>
              </a:r>
              <a:endParaRPr b="1" i="0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Interface utilisateur permettant la saisie de la date et heure de réservation et la génération sécurisée du QR code d'accès.</a:t>
              </a:r>
              <a:endParaRPr b="0" i="0" sz="9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6" name="Google Shape;526;g3f0c118c5d3_1_1501"/>
            <p:cNvPicPr preferRelativeResize="0"/>
            <p:nvPr/>
          </p:nvPicPr>
          <p:blipFill rotWithShape="1">
            <a:blip r:embed="rId4">
              <a:alphaModFix/>
            </a:blip>
            <a:srcRect b="12041" l="0" r="0" t="12041"/>
            <a:stretch/>
          </p:blipFill>
          <p:spPr>
            <a:xfrm>
              <a:off x="8162475" y="4657650"/>
              <a:ext cx="3432000" cy="1470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3"/>
          <p:cNvSpPr txBox="1"/>
          <p:nvPr/>
        </p:nvSpPr>
        <p:spPr>
          <a:xfrm>
            <a:off x="438912" y="25603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438912" y="585216"/>
            <a:ext cx="11201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Ce qui est validé, et ce qui reste à prouver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438912" y="1399032"/>
            <a:ext cx="11292840" cy="1463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502920" y="1847088"/>
            <a:ext cx="3429000" cy="219456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502920" y="1847088"/>
            <a:ext cx="64008" cy="2194560"/>
          </a:xfrm>
          <a:prstGeom prst="rect">
            <a:avLst/>
          </a:prstGeom>
          <a:solidFill>
            <a:srgbClr val="2D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704088" y="1975104"/>
            <a:ext cx="304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Validé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704088" y="2350008"/>
            <a:ext cx="30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Dialogue complet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QR valide et invalide 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Teleop </a:t>
            </a:r>
            <a:r>
              <a:rPr lang="en-US" sz="1050">
                <a:solidFill>
                  <a:srgbClr val="5C5C5C"/>
                </a:solidFill>
              </a:rPr>
              <a:t>manuel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5C5C5C"/>
                </a:solidFill>
              </a:rPr>
              <a:t>Detection 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4370832" y="1847088"/>
            <a:ext cx="3429000" cy="2194560"/>
          </a:xfrm>
          <a:prstGeom prst="rect">
            <a:avLst/>
          </a:prstGeom>
          <a:solidFill>
            <a:srgbClr val="FFF4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4370832" y="1847088"/>
            <a:ext cx="64008" cy="2194560"/>
          </a:xfrm>
          <a:prstGeom prst="rect">
            <a:avLst/>
          </a:prstGeom>
          <a:solidFill>
            <a:srgbClr val="966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4572000" y="1975104"/>
            <a:ext cx="3044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Testé sur le 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4572000" y="2350008"/>
            <a:ext cx="304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C5C5C"/>
                </a:solidFill>
              </a:rPr>
              <a:t>Micro (marche mais pas stable)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5C5C5C"/>
                </a:solidFill>
              </a:rPr>
              <a:t>Mapping 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Nav2 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5C5C5C"/>
                </a:solidFill>
              </a:rPr>
              <a:t>Arret</a:t>
            </a:r>
            <a:r>
              <a:rPr lang="en-US" sz="1050">
                <a:solidFill>
                  <a:srgbClr val="5C5C5C"/>
                </a:solidFill>
              </a:rPr>
              <a:t> Urgence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8238744" y="1847088"/>
            <a:ext cx="3429000" cy="2194560"/>
          </a:xfrm>
          <a:prstGeom prst="rect">
            <a:avLst/>
          </a:prstGeom>
          <a:solidFill>
            <a:srgbClr val="FDE8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8238744" y="1847088"/>
            <a:ext cx="64008" cy="2194560"/>
          </a:xfrm>
          <a:prstGeom prst="rect">
            <a:avLst/>
          </a:prstGeom>
          <a:solidFill>
            <a:srgbClr val="B923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8439912" y="1975104"/>
            <a:ext cx="3044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Encore à prouver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8439912" y="2350008"/>
            <a:ext cx="304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Retour à l’accueil</a:t>
            </a:r>
            <a:br>
              <a:rPr b="0" i="0" lang="en-US" sz="105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50">
                <a:solidFill>
                  <a:srgbClr val="5C5C5C"/>
                </a:solidFill>
              </a:rPr>
              <a:t>Workflow complet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>
            <a:off x="594360" y="4736592"/>
            <a:ext cx="10698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Nous ne présentons pas un test mock comme un test réel.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3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4"/>
          <p:cNvSpPr txBox="1"/>
          <p:nvPr/>
        </p:nvSpPr>
        <p:spPr>
          <a:xfrm>
            <a:off x="438912" y="256032"/>
            <a:ext cx="402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4"/>
          <p:cNvSpPr txBox="1"/>
          <p:nvPr/>
        </p:nvSpPr>
        <p:spPr>
          <a:xfrm>
            <a:off x="484637" y="854454"/>
            <a:ext cx="112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Problèmes matériels : ce que nous avons trouvé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438912" y="1399032"/>
            <a:ext cx="11292900" cy="14700"/>
          </a:xfrm>
          <a:prstGeom prst="rect">
            <a:avLst/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24"/>
          <p:cNvGrpSpPr/>
          <p:nvPr/>
        </p:nvGrpSpPr>
        <p:grpSpPr>
          <a:xfrm>
            <a:off x="438900" y="2755784"/>
            <a:ext cx="5143500" cy="3466982"/>
            <a:chOff x="438912" y="1714500"/>
            <a:chExt cx="5143500" cy="3857775"/>
          </a:xfrm>
        </p:grpSpPr>
        <p:sp>
          <p:nvSpPr>
            <p:cNvPr id="556" name="Google Shape;556;p24"/>
            <p:cNvSpPr/>
            <p:nvPr/>
          </p:nvSpPr>
          <p:spPr>
            <a:xfrm>
              <a:off x="438912" y="1714500"/>
              <a:ext cx="5143500" cy="857400"/>
            </a:xfrm>
            <a:prstGeom prst="roundRect">
              <a:avLst>
                <a:gd fmla="val 4444" name="adj"/>
              </a:avLst>
            </a:prstGeom>
            <a:solidFill>
              <a:srgbClr val="FDE8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438912" y="1714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B92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4"/>
            <p:cNvSpPr txBox="1"/>
            <p:nvPr/>
          </p:nvSpPr>
          <p:spPr>
            <a:xfrm>
              <a:off x="685800" y="1714500"/>
              <a:ext cx="47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231E"/>
                  </a:solidFill>
                  <a:latin typeface="Arial"/>
                  <a:ea typeface="Arial"/>
                  <a:cs typeface="Arial"/>
                  <a:sym typeface="Arial"/>
                </a:rPr>
                <a:t>MCU</a:t>
              </a:r>
              <a:endParaRPr b="1" sz="1400">
                <a:solidFill>
                  <a:srgbClr val="B92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Très chaud puis parfois silencieux après environ </a:t>
              </a:r>
              <a:r>
                <a:rPr lang="en-US" sz="1100">
                  <a:solidFill>
                    <a:srgbClr val="5C5C5C"/>
                  </a:solidFill>
                </a:rPr>
                <a:t>3</a:t>
              </a: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 h.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438912" y="2714625"/>
              <a:ext cx="5143500" cy="857400"/>
            </a:xfrm>
            <a:prstGeom prst="roundRect">
              <a:avLst>
                <a:gd fmla="val 4444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438912" y="27146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 txBox="1"/>
            <p:nvPr/>
          </p:nvSpPr>
          <p:spPr>
            <a:xfrm>
              <a:off x="685800" y="2714625"/>
              <a:ext cx="47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LiDAR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C5C5C"/>
                  </a:solidFill>
                </a:rPr>
                <a:t>les topics (scan0 et scan1) </a:t>
              </a: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reviennent après un redémarrage micro-ROS.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438912" y="3714750"/>
              <a:ext cx="5143500" cy="857400"/>
            </a:xfrm>
            <a:prstGeom prst="roundRect">
              <a:avLst>
                <a:gd fmla="val 4444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438912" y="371475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 txBox="1"/>
            <p:nvPr/>
          </p:nvSpPr>
          <p:spPr>
            <a:xfrm>
              <a:off x="685800" y="3714750"/>
              <a:ext cx="47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Micro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C5C5C"/>
                  </a:solidFill>
                </a:rPr>
                <a:t>L'emplacement</a:t>
              </a:r>
              <a:r>
                <a:rPr lang="en-US" sz="1100">
                  <a:solidFill>
                    <a:srgbClr val="5C5C5C"/>
                  </a:solidFill>
                </a:rPr>
                <a:t> </a:t>
              </a: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trop proche du ventilateur.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438912" y="4714875"/>
              <a:ext cx="5143500" cy="857400"/>
            </a:xfrm>
            <a:prstGeom prst="roundRect">
              <a:avLst>
                <a:gd fmla="val 4444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38912" y="471487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4"/>
            <p:cNvSpPr txBox="1"/>
            <p:nvPr/>
          </p:nvSpPr>
          <p:spPr>
            <a:xfrm>
              <a:off x="685800" y="4714875"/>
              <a:ext cx="47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Navigation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Carte et configuration changées plusieurs fois.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24"/>
          <p:cNvGrpSpPr/>
          <p:nvPr/>
        </p:nvGrpSpPr>
        <p:grpSpPr>
          <a:xfrm>
            <a:off x="6191250" y="1714500"/>
            <a:ext cx="5562675" cy="3143400"/>
            <a:chOff x="6191250" y="1714500"/>
            <a:chExt cx="5562675" cy="3143400"/>
          </a:xfrm>
        </p:grpSpPr>
        <p:sp>
          <p:nvSpPr>
            <p:cNvPr id="569" name="Google Shape;569;p24"/>
            <p:cNvSpPr txBox="1"/>
            <p:nvPr/>
          </p:nvSpPr>
          <p:spPr>
            <a:xfrm>
              <a:off x="6191250" y="1714500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B3261E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2800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4"/>
            <p:cNvSpPr txBox="1"/>
            <p:nvPr/>
          </p:nvSpPr>
          <p:spPr>
            <a:xfrm>
              <a:off x="6905625" y="1714500"/>
              <a:ext cx="484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Docker mal lancé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Le conteneur Docker ROS 2 ne démarrait pas toujours correctement.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1" name="Google Shape;571;p24"/>
            <p:cNvCxnSpPr/>
            <p:nvPr/>
          </p:nvCxnSpPr>
          <p:spPr>
            <a:xfrm>
              <a:off x="6191250" y="2709863"/>
              <a:ext cx="5562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2" name="Google Shape;572;p24"/>
            <p:cNvSpPr txBox="1"/>
            <p:nvPr/>
          </p:nvSpPr>
          <p:spPr>
            <a:xfrm>
              <a:off x="6191250" y="2857500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96640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2800">
                <a:solidFill>
                  <a:srgbClr val="9664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4"/>
            <p:cNvSpPr txBox="1"/>
            <p:nvPr/>
          </p:nvSpPr>
          <p:spPr>
            <a:xfrm>
              <a:off x="6905625" y="2857500"/>
              <a:ext cx="484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Topics manquants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Certains topics ROS 2 n'étaient pas publiés au lancement.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4" name="Google Shape;574;p24"/>
            <p:cNvCxnSpPr/>
            <p:nvPr/>
          </p:nvCxnSpPr>
          <p:spPr>
            <a:xfrm>
              <a:off x="6191250" y="3852863"/>
              <a:ext cx="5562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5" name="Google Shape;575;p24"/>
            <p:cNvSpPr txBox="1"/>
            <p:nvPr/>
          </p:nvSpPr>
          <p:spPr>
            <a:xfrm>
              <a:off x="6191250" y="4000500"/>
              <a:ext cx="57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2D7D32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2800">
                <a:solidFill>
                  <a:srgbClr val="2D7D3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4"/>
            <p:cNvSpPr txBox="1"/>
            <p:nvPr/>
          </p:nvSpPr>
          <p:spPr>
            <a:xfrm>
              <a:off x="6905625" y="4000500"/>
              <a:ext cx="4848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1414"/>
                  </a:solidFill>
                  <a:latin typeface="Arial"/>
                  <a:ea typeface="Arial"/>
                  <a:cs typeface="Arial"/>
                  <a:sym typeface="Arial"/>
                </a:rPr>
                <a:t>Services indisponibles</a:t>
              </a:r>
              <a:endParaRPr b="1" sz="140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C5C5C"/>
                  </a:solidFill>
                  <a:latin typeface="Arial"/>
                  <a:ea typeface="Arial"/>
                  <a:cs typeface="Arial"/>
                  <a:sym typeface="Arial"/>
                </a:rPr>
                <a:t>Les services dépendant de ces topics ne pouvaient plus s'exécuter.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7" name="Google Shape;577;p24"/>
          <p:cNvGrpSpPr/>
          <p:nvPr/>
        </p:nvGrpSpPr>
        <p:grpSpPr>
          <a:xfrm>
            <a:off x="438900" y="1918000"/>
            <a:ext cx="5143500" cy="750225"/>
            <a:chOff x="438912" y="1714500"/>
            <a:chExt cx="5143500" cy="857400"/>
          </a:xfrm>
        </p:grpSpPr>
        <p:sp>
          <p:nvSpPr>
            <p:cNvPr id="578" name="Google Shape;578;p24"/>
            <p:cNvSpPr/>
            <p:nvPr/>
          </p:nvSpPr>
          <p:spPr>
            <a:xfrm>
              <a:off x="438912" y="1714500"/>
              <a:ext cx="5143500" cy="857400"/>
            </a:xfrm>
            <a:prstGeom prst="roundRect">
              <a:avLst>
                <a:gd fmla="val 4444" name="adj"/>
              </a:avLst>
            </a:prstGeom>
            <a:solidFill>
              <a:srgbClr val="FDE8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438912" y="1714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B923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 txBox="1"/>
            <p:nvPr/>
          </p:nvSpPr>
          <p:spPr>
            <a:xfrm>
              <a:off x="685800" y="1714500"/>
              <a:ext cx="4705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B9231E"/>
                  </a:solidFill>
                  <a:latin typeface="Arial"/>
                  <a:ea typeface="Arial"/>
                  <a:cs typeface="Arial"/>
                  <a:sym typeface="Arial"/>
                </a:rPr>
                <a:t>Clés USB</a:t>
              </a:r>
              <a:endParaRPr b="1" sz="1400">
                <a:solidFill>
                  <a:srgbClr val="B9231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C5C5C"/>
                  </a:solidFill>
                </a:rPr>
                <a:t>L’OS devient corrompu après plusieurs </a:t>
              </a:r>
              <a:r>
                <a:rPr lang="en-US" sz="1100">
                  <a:solidFill>
                    <a:srgbClr val="5C5C5C"/>
                  </a:solidFill>
                </a:rPr>
                <a:t>démarrages.</a:t>
              </a:r>
              <a:endParaRPr b="0" sz="11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1" name="Google Shape;581;p24"/>
          <p:cNvSpPr txBox="1"/>
          <p:nvPr>
            <p:ph idx="12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0c118c5d3_1_1216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0c118c5d3_1_1216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Points de frictions rencontrés</a:t>
            </a:r>
            <a:endParaRPr b="1" i="0" sz="27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g3f0c118c5d3_1_1216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g3f0c118c5d3_1_1216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g3f0c118c5d3_1_1216"/>
          <p:cNvGrpSpPr/>
          <p:nvPr/>
        </p:nvGrpSpPr>
        <p:grpSpPr>
          <a:xfrm>
            <a:off x="411480" y="2095500"/>
            <a:ext cx="11369040" cy="3048000"/>
            <a:chOff x="411480" y="2095500"/>
            <a:chExt cx="11369040" cy="3048000"/>
          </a:xfrm>
        </p:grpSpPr>
        <p:sp>
          <p:nvSpPr>
            <p:cNvPr id="592" name="Google Shape;592;g3f0c118c5d3_1_1216"/>
            <p:cNvSpPr/>
            <p:nvPr/>
          </p:nvSpPr>
          <p:spPr>
            <a:xfrm>
              <a:off x="411480" y="2095500"/>
              <a:ext cx="3467100" cy="3048000"/>
            </a:xfrm>
            <a:prstGeom prst="roundRect">
              <a:avLst>
                <a:gd fmla="val 125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3f0c118c5d3_1_1216"/>
            <p:cNvSpPr/>
            <p:nvPr/>
          </p:nvSpPr>
          <p:spPr>
            <a:xfrm>
              <a:off x="411480" y="2095500"/>
              <a:ext cx="63900" cy="3048000"/>
            </a:xfrm>
            <a:prstGeom prst="roundRect">
              <a:avLst>
                <a:gd fmla="val 50000" name="adj"/>
              </a:avLst>
            </a:prstGeom>
            <a:solidFill>
              <a:srgbClr val="B326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3f0c118c5d3_1_1216"/>
            <p:cNvSpPr txBox="1"/>
            <p:nvPr/>
          </p:nvSpPr>
          <p:spPr>
            <a:xfrm>
              <a:off x="619125" y="2286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Technique</a:t>
              </a:r>
              <a:endParaRPr b="1" i="0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Simulation avec un </a:t>
              </a:r>
              <a:r>
                <a:rPr b="1" lang="en-US" sz="1100">
                  <a:solidFill>
                    <a:srgbClr val="333333"/>
                  </a:solidFill>
                </a:rPr>
                <a:t>PC portable</a:t>
              </a:r>
              <a:endParaRPr b="1" i="0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La simulation avec Rviz et Gazebo est pratiquement impossible sans le bon matériel.</a:t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9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3f0c118c5d3_1_1216"/>
            <p:cNvSpPr/>
            <p:nvPr/>
          </p:nvSpPr>
          <p:spPr>
            <a:xfrm>
              <a:off x="4362450" y="2095500"/>
              <a:ext cx="3467100" cy="3048000"/>
            </a:xfrm>
            <a:prstGeom prst="roundRect">
              <a:avLst>
                <a:gd fmla="val 125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f0c118c5d3_1_1216"/>
            <p:cNvSpPr/>
            <p:nvPr/>
          </p:nvSpPr>
          <p:spPr>
            <a:xfrm>
              <a:off x="4362450" y="2095500"/>
              <a:ext cx="63900" cy="3048000"/>
            </a:xfrm>
            <a:prstGeom prst="roundRect">
              <a:avLst>
                <a:gd fmla="val 49999" name="adj"/>
              </a:avLst>
            </a:prstGeom>
            <a:solidFill>
              <a:srgbClr val="FF6B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f0c118c5d3_1_1216"/>
            <p:cNvSpPr txBox="1"/>
            <p:nvPr/>
          </p:nvSpPr>
          <p:spPr>
            <a:xfrm>
              <a:off x="4572000" y="2286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Organisationnel</a:t>
              </a:r>
              <a:endParaRPr b="1" i="0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Accès au matériel</a:t>
              </a:r>
              <a:endParaRPr b="1" i="0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Un seul robot pour 4 personnes. Difficile de tester le code en simultané.</a:t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Robot disponible uniquement à l’école.</a:t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f0c118c5d3_1_1216"/>
            <p:cNvSpPr/>
            <p:nvPr/>
          </p:nvSpPr>
          <p:spPr>
            <a:xfrm>
              <a:off x="8313420" y="2095500"/>
              <a:ext cx="3467100" cy="3048000"/>
            </a:xfrm>
            <a:prstGeom prst="roundRect">
              <a:avLst>
                <a:gd fmla="val 1250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f0c118c5d3_1_1216"/>
            <p:cNvSpPr/>
            <p:nvPr/>
          </p:nvSpPr>
          <p:spPr>
            <a:xfrm>
              <a:off x="8313420" y="2095500"/>
              <a:ext cx="63900" cy="3048000"/>
            </a:xfrm>
            <a:prstGeom prst="roundRect">
              <a:avLst>
                <a:gd fmla="val 49999" name="adj"/>
              </a:avLst>
            </a:prstGeom>
            <a:solidFill>
              <a:srgbClr val="9A67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3f0c118c5d3_1_1216"/>
            <p:cNvSpPr txBox="1"/>
            <p:nvPr/>
          </p:nvSpPr>
          <p:spPr>
            <a:xfrm>
              <a:off x="8524875" y="2286000"/>
              <a:ext cx="3048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Humain</a:t>
              </a:r>
              <a:endParaRPr b="1" i="0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• Hétérogénéité des compétences Git</a:t>
              </a:r>
              <a:endParaRPr b="1" i="0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1125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rPr>
                <a:t>Quelques soucis sur l’utilisation de l’outil car on avait pas tous le même degré de maîtrise de l'outil.</a:t>
              </a:r>
              <a:endParaRPr b="0" i="0" sz="105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0c118c5d3_1_1949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g3f0c118c5d3_1_1949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g3f0c118c5d3_1_1949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g3f0c118c5d3_1_1949"/>
          <p:cNvGrpSpPr/>
          <p:nvPr/>
        </p:nvGrpSpPr>
        <p:grpSpPr>
          <a:xfrm>
            <a:off x="411495" y="2095500"/>
            <a:ext cx="8317590" cy="3238500"/>
            <a:chOff x="411480" y="2095500"/>
            <a:chExt cx="11369040" cy="3238500"/>
          </a:xfrm>
        </p:grpSpPr>
        <p:grpSp>
          <p:nvGrpSpPr>
            <p:cNvPr id="610" name="Google Shape;610;g3f0c118c5d3_1_1949"/>
            <p:cNvGrpSpPr/>
            <p:nvPr/>
          </p:nvGrpSpPr>
          <p:grpSpPr>
            <a:xfrm>
              <a:off x="411480" y="2095500"/>
              <a:ext cx="3467100" cy="3238500"/>
              <a:chOff x="411480" y="2095500"/>
              <a:chExt cx="3467100" cy="3238500"/>
            </a:xfrm>
          </p:grpSpPr>
          <p:sp>
            <p:nvSpPr>
              <p:cNvPr id="611" name="Google Shape;611;g3f0c118c5d3_1_1949"/>
              <p:cNvSpPr/>
              <p:nvPr/>
            </p:nvSpPr>
            <p:spPr>
              <a:xfrm>
                <a:off x="411480" y="2095500"/>
                <a:ext cx="3467100" cy="3238500"/>
              </a:xfrm>
              <a:prstGeom prst="roundRect">
                <a:avLst>
                  <a:gd fmla="val 1176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g3f0c118c5d3_1_1949"/>
              <p:cNvSpPr/>
              <p:nvPr/>
            </p:nvSpPr>
            <p:spPr>
              <a:xfrm>
                <a:off x="411480" y="2095500"/>
                <a:ext cx="63900" cy="3238500"/>
              </a:xfrm>
              <a:prstGeom prst="roundRect">
                <a:avLst>
                  <a:gd fmla="val 49253" name="adj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g3f0c118c5d3_1_1949"/>
              <p:cNvSpPr txBox="1"/>
              <p:nvPr/>
            </p:nvSpPr>
            <p:spPr>
              <a:xfrm>
                <a:off x="619125" y="2286000"/>
                <a:ext cx="3048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rgbClr val="2E7D32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i="0" sz="36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Organisation</a:t>
                </a:r>
                <a:endParaRPr b="1" i="0" sz="1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Mettre en place une meilleure organisation interne au sein de l'équipe pour fluidifier les échanges et optimiser la répartition des tâches.</a:t>
                </a:r>
                <a:endParaRPr b="0" i="0" sz="120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g3f0c118c5d3_1_1949"/>
            <p:cNvGrpSpPr/>
            <p:nvPr/>
          </p:nvGrpSpPr>
          <p:grpSpPr>
            <a:xfrm>
              <a:off x="4362450" y="2095500"/>
              <a:ext cx="3467100" cy="3238500"/>
              <a:chOff x="4362450" y="2095500"/>
              <a:chExt cx="3467100" cy="3238500"/>
            </a:xfrm>
          </p:grpSpPr>
          <p:sp>
            <p:nvSpPr>
              <p:cNvPr id="615" name="Google Shape;615;g3f0c118c5d3_1_1949"/>
              <p:cNvSpPr/>
              <p:nvPr/>
            </p:nvSpPr>
            <p:spPr>
              <a:xfrm>
                <a:off x="4362450" y="2095500"/>
                <a:ext cx="3467100" cy="3238500"/>
              </a:xfrm>
              <a:prstGeom prst="roundRect">
                <a:avLst>
                  <a:gd fmla="val 1176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g3f0c118c5d3_1_1949"/>
              <p:cNvSpPr/>
              <p:nvPr/>
            </p:nvSpPr>
            <p:spPr>
              <a:xfrm>
                <a:off x="4362450" y="2095500"/>
                <a:ext cx="63900" cy="3238500"/>
              </a:xfrm>
              <a:prstGeom prst="roundRect">
                <a:avLst>
                  <a:gd fmla="val 49253" name="adj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g3f0c118c5d3_1_1949"/>
              <p:cNvSpPr txBox="1"/>
              <p:nvPr/>
            </p:nvSpPr>
            <p:spPr>
              <a:xfrm>
                <a:off x="4572000" y="2286000"/>
                <a:ext cx="3048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rgbClr val="2E7D32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i="0" sz="36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Planification</a:t>
                </a:r>
                <a:endParaRPr b="1" i="0" sz="1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Suivre de plus près les étapes clés pour mieux respecter le calendrier et éviter/anticip</a:t>
                </a:r>
                <a:r>
                  <a:rPr lang="en-US" sz="1200">
                    <a:solidFill>
                      <a:srgbClr val="5D5D5D"/>
                    </a:solidFill>
                  </a:rPr>
                  <a:t>er</a:t>
                </a:r>
                <a:r>
                  <a:rPr b="0" i="0" lang="en-US" sz="120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 les retards.</a:t>
                </a:r>
                <a:endParaRPr b="0" i="0" sz="120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g3f0c118c5d3_1_1949"/>
            <p:cNvGrpSpPr/>
            <p:nvPr/>
          </p:nvGrpSpPr>
          <p:grpSpPr>
            <a:xfrm>
              <a:off x="8313420" y="2095500"/>
              <a:ext cx="3467100" cy="3238500"/>
              <a:chOff x="8313420" y="2095500"/>
              <a:chExt cx="3467100" cy="3238500"/>
            </a:xfrm>
          </p:grpSpPr>
          <p:sp>
            <p:nvSpPr>
              <p:cNvPr id="619" name="Google Shape;619;g3f0c118c5d3_1_1949"/>
              <p:cNvSpPr/>
              <p:nvPr/>
            </p:nvSpPr>
            <p:spPr>
              <a:xfrm>
                <a:off x="8313420" y="2095500"/>
                <a:ext cx="3467100" cy="3238500"/>
              </a:xfrm>
              <a:prstGeom prst="roundRect">
                <a:avLst>
                  <a:gd fmla="val 1176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g3f0c118c5d3_1_1949"/>
              <p:cNvSpPr/>
              <p:nvPr/>
            </p:nvSpPr>
            <p:spPr>
              <a:xfrm>
                <a:off x="8313420" y="2095500"/>
                <a:ext cx="63900" cy="3238500"/>
              </a:xfrm>
              <a:prstGeom prst="roundRect">
                <a:avLst>
                  <a:gd fmla="val 49253" name="adj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g3f0c118c5d3_1_1949"/>
              <p:cNvSpPr txBox="1"/>
              <p:nvPr/>
            </p:nvSpPr>
            <p:spPr>
              <a:xfrm>
                <a:off x="8524875" y="2286000"/>
                <a:ext cx="3048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rgbClr val="2E7D3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i="0" sz="36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125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rgbClr val="111111"/>
                    </a:solidFill>
                    <a:latin typeface="Arial"/>
                    <a:ea typeface="Arial"/>
                    <a:cs typeface="Arial"/>
                    <a:sym typeface="Arial"/>
                  </a:rPr>
                  <a:t>Engagement</a:t>
                </a:r>
                <a:endParaRPr b="1" i="0" sz="1800" u="none" cap="none" strike="noStrike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5D5D5D"/>
                    </a:solidFill>
                    <a:latin typeface="Arial"/>
                    <a:ea typeface="Arial"/>
                    <a:cs typeface="Arial"/>
                    <a:sym typeface="Arial"/>
                  </a:rPr>
                  <a:t>Renforcer l'implication individuelle et s'investir davantage dans le projet, en particulier durant les phases de développement critiques.</a:t>
                </a:r>
                <a:endParaRPr b="0" i="0" sz="1200" u="none" cap="none" strike="noStrike">
                  <a:solidFill>
                    <a:srgbClr val="5D5D5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22" name="Google Shape;622;g3f0c118c5d3_1_1949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F45200"/>
                </a:solidFill>
              </a:rPr>
              <a:t>08 </a:t>
            </a:r>
            <a:r>
              <a:rPr b="1" lang="en-US" sz="2600">
                <a:solidFill>
                  <a:srgbClr val="141414"/>
                </a:solidFill>
              </a:rPr>
              <a:t>Rétrospective &amp; axes d'amélioration</a:t>
            </a:r>
            <a:endParaRPr b="1" sz="2700">
              <a:solidFill>
                <a:srgbClr val="111111"/>
              </a:solidFill>
            </a:endParaRPr>
          </a:p>
        </p:txBody>
      </p:sp>
      <p:sp>
        <p:nvSpPr>
          <p:cNvPr id="623" name="Google Shape;623;g3f0c118c5d3_1_1949"/>
          <p:cNvSpPr/>
          <p:nvPr/>
        </p:nvSpPr>
        <p:spPr>
          <a:xfrm>
            <a:off x="9028604" y="2095500"/>
            <a:ext cx="2721300" cy="3238500"/>
          </a:xfrm>
          <a:prstGeom prst="roundRect">
            <a:avLst>
              <a:gd fmla="val 1176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g3f0c118c5d3_1_1949"/>
          <p:cNvGrpSpPr/>
          <p:nvPr/>
        </p:nvGrpSpPr>
        <p:grpSpPr>
          <a:xfrm>
            <a:off x="9028432" y="2095500"/>
            <a:ext cx="2575419" cy="3238500"/>
            <a:chOff x="4362450" y="2095500"/>
            <a:chExt cx="3257550" cy="3238500"/>
          </a:xfrm>
        </p:grpSpPr>
        <p:sp>
          <p:nvSpPr>
            <p:cNvPr id="625" name="Google Shape;625;g3f0c118c5d3_1_1949"/>
            <p:cNvSpPr/>
            <p:nvPr/>
          </p:nvSpPr>
          <p:spPr>
            <a:xfrm>
              <a:off x="4362450" y="2095500"/>
              <a:ext cx="63900" cy="3238500"/>
            </a:xfrm>
            <a:prstGeom prst="roundRect">
              <a:avLst>
                <a:gd fmla="val 49253" name="adj"/>
              </a:avLst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3f0c118c5d3_1_1949"/>
            <p:cNvSpPr txBox="1"/>
            <p:nvPr/>
          </p:nvSpPr>
          <p:spPr>
            <a:xfrm>
              <a:off x="4572000" y="22860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1" lang="en-US" sz="3600">
                  <a:solidFill>
                    <a:srgbClr val="2E7D32"/>
                  </a:solidFill>
                </a:rPr>
                <a:t>4</a:t>
              </a:r>
              <a:endParaRPr b="1" i="0" sz="3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-US" sz="1800">
                  <a:solidFill>
                    <a:srgbClr val="111111"/>
                  </a:solidFill>
                </a:rPr>
                <a:t>Priorisation des objectifs</a:t>
              </a:r>
              <a:endParaRPr b="1" sz="1800">
                <a:solidFill>
                  <a:srgbClr val="111111"/>
                </a:solidFill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rgbClr val="5D5D5D"/>
                  </a:solidFill>
                </a:rPr>
                <a:t>Définir et hiérarchiser clairement les objectifs afin de concentrer les efforts sur les priorités essentielles et améliorer l’efficacité globale de l’équipe. </a:t>
              </a:r>
              <a:endParaRPr b="1" sz="1800">
                <a:solidFill>
                  <a:srgbClr val="11111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360492bd5_33_86"/>
          <p:cNvSpPr/>
          <p:nvPr/>
        </p:nvSpPr>
        <p:spPr>
          <a:xfrm>
            <a:off x="411480" y="256032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g3f360492bd5_33_86"/>
          <p:cNvCxnSpPr/>
          <p:nvPr/>
        </p:nvCxnSpPr>
        <p:spPr>
          <a:xfrm>
            <a:off x="411480" y="1417320"/>
            <a:ext cx="11338500" cy="0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g3f360492bd5_33_86"/>
          <p:cNvSpPr txBox="1"/>
          <p:nvPr>
            <p:ph idx="4294967295" type="sldNum"/>
          </p:nvPr>
        </p:nvSpPr>
        <p:spPr>
          <a:xfrm>
            <a:off x="11201400" y="6583680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360492bd5_33_86"/>
          <p:cNvSpPr/>
          <p:nvPr/>
        </p:nvSpPr>
        <p:spPr>
          <a:xfrm>
            <a:off x="411480" y="566928"/>
            <a:ext cx="11292900" cy="7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700">
                <a:solidFill>
                  <a:schemeClr val="dk2"/>
                </a:solidFill>
              </a:rPr>
              <a:t>Fonctionnalitées</a:t>
            </a:r>
            <a:r>
              <a:rPr b="1" lang="en-US" sz="2700">
                <a:solidFill>
                  <a:schemeClr val="dk2"/>
                </a:solidFill>
              </a:rPr>
              <a:t> secondaires </a:t>
            </a:r>
            <a:r>
              <a:rPr b="1" lang="en-US" sz="2400">
                <a:solidFill>
                  <a:schemeClr val="accent1"/>
                </a:solidFill>
              </a:rPr>
              <a:t>(nice to have)</a:t>
            </a:r>
            <a:endParaRPr b="1" sz="2400">
              <a:solidFill>
                <a:schemeClr val="accent1"/>
              </a:solidFill>
            </a:endParaRPr>
          </a:p>
        </p:txBody>
      </p:sp>
      <p:grpSp>
        <p:nvGrpSpPr>
          <p:cNvPr id="636" name="Google Shape;636;g3f360492bd5_33_86"/>
          <p:cNvGrpSpPr/>
          <p:nvPr/>
        </p:nvGrpSpPr>
        <p:grpSpPr>
          <a:xfrm>
            <a:off x="411721" y="2095500"/>
            <a:ext cx="11293270" cy="3238500"/>
            <a:chOff x="411480" y="2095500"/>
            <a:chExt cx="7418070" cy="3238500"/>
          </a:xfrm>
        </p:grpSpPr>
        <p:grpSp>
          <p:nvGrpSpPr>
            <p:cNvPr id="637" name="Google Shape;637;g3f360492bd5_33_86"/>
            <p:cNvGrpSpPr/>
            <p:nvPr/>
          </p:nvGrpSpPr>
          <p:grpSpPr>
            <a:xfrm>
              <a:off x="411480" y="2095500"/>
              <a:ext cx="3467100" cy="3238500"/>
              <a:chOff x="411480" y="2095500"/>
              <a:chExt cx="3467100" cy="3238500"/>
            </a:xfrm>
          </p:grpSpPr>
          <p:sp>
            <p:nvSpPr>
              <p:cNvPr id="638" name="Google Shape;638;g3f360492bd5_33_86"/>
              <p:cNvSpPr/>
              <p:nvPr/>
            </p:nvSpPr>
            <p:spPr>
              <a:xfrm>
                <a:off x="411480" y="2095500"/>
                <a:ext cx="3467100" cy="3238500"/>
              </a:xfrm>
              <a:prstGeom prst="roundRect">
                <a:avLst>
                  <a:gd fmla="val 1176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g3f360492bd5_33_86"/>
              <p:cNvSpPr/>
              <p:nvPr/>
            </p:nvSpPr>
            <p:spPr>
              <a:xfrm>
                <a:off x="411480" y="2095500"/>
                <a:ext cx="63900" cy="3238500"/>
              </a:xfrm>
              <a:prstGeom prst="roundRect">
                <a:avLst>
                  <a:gd fmla="val 49253" name="adj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g3f360492bd5_33_86"/>
              <p:cNvSpPr txBox="1"/>
              <p:nvPr/>
            </p:nvSpPr>
            <p:spPr>
              <a:xfrm>
                <a:off x="619125" y="2286000"/>
                <a:ext cx="3048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lang="en-US" sz="3600">
                    <a:solidFill>
                      <a:srgbClr val="2E7D32"/>
                    </a:solidFill>
                  </a:rPr>
                  <a:t>01</a:t>
                </a:r>
                <a:endParaRPr b="1" i="0" sz="36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lang="en-US" sz="1800">
                    <a:solidFill>
                      <a:srgbClr val="111111"/>
                    </a:solidFill>
                  </a:rPr>
                  <a:t>Gestion multilingue</a:t>
                </a:r>
                <a:endParaRPr b="1" sz="1800">
                  <a:solidFill>
                    <a:srgbClr val="111111"/>
                  </a:solidFill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>
                    <a:solidFill>
                      <a:srgbClr val="5D5D5D"/>
                    </a:solidFill>
                  </a:rPr>
                  <a:t>Support de la détection automatique de la langue en temps réel pour un accueil fluide des visiteurs internationaux.</a:t>
                </a:r>
                <a:endParaRPr sz="1200"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rgbClr val="5D5D5D"/>
                  </a:solidFill>
                </a:endParaRPr>
              </a:p>
            </p:txBody>
          </p:sp>
        </p:grpSp>
        <p:grpSp>
          <p:nvGrpSpPr>
            <p:cNvPr id="641" name="Google Shape;641;g3f360492bd5_33_86"/>
            <p:cNvGrpSpPr/>
            <p:nvPr/>
          </p:nvGrpSpPr>
          <p:grpSpPr>
            <a:xfrm>
              <a:off x="4362450" y="2095500"/>
              <a:ext cx="3467100" cy="3238500"/>
              <a:chOff x="4362450" y="2095500"/>
              <a:chExt cx="3467100" cy="3238500"/>
            </a:xfrm>
          </p:grpSpPr>
          <p:sp>
            <p:nvSpPr>
              <p:cNvPr id="642" name="Google Shape;642;g3f360492bd5_33_86"/>
              <p:cNvSpPr/>
              <p:nvPr/>
            </p:nvSpPr>
            <p:spPr>
              <a:xfrm>
                <a:off x="4362450" y="2095500"/>
                <a:ext cx="3467100" cy="3238500"/>
              </a:xfrm>
              <a:prstGeom prst="roundRect">
                <a:avLst>
                  <a:gd fmla="val 1176" name="adj"/>
                </a:avLst>
              </a:prstGeom>
              <a:solidFill>
                <a:srgbClr val="F9FAF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g3f360492bd5_33_86"/>
              <p:cNvSpPr/>
              <p:nvPr/>
            </p:nvSpPr>
            <p:spPr>
              <a:xfrm>
                <a:off x="4362450" y="2095500"/>
                <a:ext cx="63900" cy="3238500"/>
              </a:xfrm>
              <a:prstGeom prst="roundRect">
                <a:avLst>
                  <a:gd fmla="val 49253" name="adj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g3f360492bd5_33_86"/>
              <p:cNvSpPr txBox="1"/>
              <p:nvPr/>
            </p:nvSpPr>
            <p:spPr>
              <a:xfrm>
                <a:off x="4572000" y="2286000"/>
                <a:ext cx="3048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lang="en-US" sz="3600">
                    <a:solidFill>
                      <a:srgbClr val="2E7D32"/>
                    </a:solidFill>
                  </a:rPr>
                  <a:t>02</a:t>
                </a:r>
                <a:endParaRPr b="1" sz="3600">
                  <a:solidFill>
                    <a:srgbClr val="2E7D32"/>
                  </a:solidFill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lang="en-US" sz="1800">
                    <a:solidFill>
                      <a:srgbClr val="111111"/>
                    </a:solidFill>
                  </a:rPr>
                  <a:t>Utilisation de la pince</a:t>
                </a:r>
                <a:endParaRPr b="1" sz="1800">
                  <a:solidFill>
                    <a:srgbClr val="111111"/>
                  </a:solidFill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>
                    <a:solidFill>
                      <a:srgbClr val="5D5D5D"/>
                    </a:solidFill>
                  </a:rPr>
                  <a:t>Optimisation</a:t>
                </a:r>
                <a:r>
                  <a:rPr lang="en-US" sz="1200"/>
                  <a:t> </a:t>
                </a:r>
                <a:r>
                  <a:rPr lang="en-US" sz="1200">
                    <a:solidFill>
                      <a:srgbClr val="5D5D5D"/>
                    </a:solidFill>
                  </a:rPr>
                  <a:t>des</a:t>
                </a:r>
                <a:r>
                  <a:rPr lang="en-US" sz="1200"/>
                  <a:t> </a:t>
                </a:r>
                <a:r>
                  <a:rPr lang="en-US" sz="1200">
                    <a:solidFill>
                      <a:srgbClr val="5D5D5D"/>
                    </a:solidFill>
                  </a:rPr>
                  <a:t>trajectoires de mouvement pour permettre la distribution précise de badges ou d'objets aux utilisateurs.</a:t>
                </a:r>
                <a:endParaRPr sz="1200">
                  <a:solidFill>
                    <a:srgbClr val="5D5D5D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25cf819547b99ba4_24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25cf819547b99ba4_2454"/>
          <p:cNvSpPr txBox="1"/>
          <p:nvPr/>
        </p:nvSpPr>
        <p:spPr>
          <a:xfrm>
            <a:off x="952500" y="1905000"/>
            <a:ext cx="10287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rPr>
              <a:t>POST-MORTEM PROJET</a:t>
            </a:r>
            <a:endParaRPr b="1" sz="1200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25cf819547b99ba4_2454"/>
          <p:cNvSpPr txBox="1"/>
          <p:nvPr/>
        </p:nvSpPr>
        <p:spPr>
          <a:xfrm>
            <a:off x="952500" y="2381250"/>
            <a:ext cx="1028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Merci pour votre attention !</a:t>
            </a:r>
            <a:endParaRPr b="1" sz="560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g25cf819547b99ba4_2454"/>
          <p:cNvGrpSpPr/>
          <p:nvPr/>
        </p:nvGrpSpPr>
        <p:grpSpPr>
          <a:xfrm>
            <a:off x="4953000" y="4000500"/>
            <a:ext cx="2286000" cy="476400"/>
            <a:chOff x="4953000" y="4000500"/>
            <a:chExt cx="2286000" cy="476400"/>
          </a:xfrm>
        </p:grpSpPr>
        <p:sp>
          <p:nvSpPr>
            <p:cNvPr id="657" name="Google Shape;657;g25cf819547b99ba4_2454"/>
            <p:cNvSpPr/>
            <p:nvPr/>
          </p:nvSpPr>
          <p:spPr>
            <a:xfrm>
              <a:off x="4953000" y="4000500"/>
              <a:ext cx="2286000" cy="476400"/>
            </a:xfrm>
            <a:prstGeom prst="roundRect">
              <a:avLst>
                <a:gd fmla="val 50000" name="adj"/>
              </a:avLst>
            </a:prstGeom>
            <a:solidFill>
              <a:srgbClr val="11111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g25cf819547b99ba4_2454"/>
            <p:cNvSpPr txBox="1"/>
            <p:nvPr/>
          </p:nvSpPr>
          <p:spPr>
            <a:xfrm>
              <a:off x="4953000" y="400050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EVO-BOTICS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9" name="Google Shape;659;g25cf819547b99ba4_2454"/>
          <p:cNvCxnSpPr/>
          <p:nvPr/>
        </p:nvCxnSpPr>
        <p:spPr>
          <a:xfrm>
            <a:off x="411480" y="6537960"/>
            <a:ext cx="11369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EBEB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g25cf819547b99ba4_2454"/>
          <p:cNvSpPr txBox="1"/>
          <p:nvPr/>
        </p:nvSpPr>
        <p:spPr>
          <a:xfrm>
            <a:off x="411480" y="6601968"/>
            <a:ext cx="3810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EVO-BOTICS · HETIC WEB3</a:t>
            </a:r>
            <a:endParaRPr b="1" sz="75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2026-07-04T14:40:40Z</dcterms:created>
  <dc:creator>Evo-Botics</dc:creator>
</cp:coreProperties>
</file>